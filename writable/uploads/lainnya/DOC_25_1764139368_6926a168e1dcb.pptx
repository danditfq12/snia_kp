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0" r:id="rId4"/>
    <p:sldId id="258" r:id="rId5"/>
    <p:sldId id="271" r:id="rId6"/>
    <p:sldId id="261" r:id="rId7"/>
    <p:sldId id="260" r:id="rId8"/>
    <p:sldId id="264" r:id="rId9"/>
    <p:sldId id="269" r:id="rId10"/>
  </p:sldIdLst>
  <p:sldSz cx="18288000" cy="10287000"/>
  <p:notesSz cx="6858000" cy="9144000"/>
  <p:embeddedFontLst>
    <p:embeddedFont>
      <p:font typeface="Body Grotesque" panose="020B0604020202020204" charset="0"/>
      <p:regular r:id="rId12"/>
    </p:embeddedFont>
    <p:embeddedFont>
      <p:font typeface="Body Grotesque Bold Italic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ans Bold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Inter Medium" panose="020B0604020202020204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9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27F6A-7124-4D40-8A05-47BB945EBBD5}" type="datetimeFigureOut">
              <a:rPr lang="en-ID" smtClean="0"/>
              <a:t>18/11/2025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2CA6D-9540-4B7C-ACBE-D088738D00B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001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2CA6D-9540-4B7C-ACBE-D088738D00B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1120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20.sv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20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4232752" y="-2432081"/>
            <a:ext cx="5388571" cy="5655406"/>
            <a:chOff x="0" y="0"/>
            <a:chExt cx="7184761" cy="7540542"/>
          </a:xfrm>
        </p:grpSpPr>
        <p:sp>
          <p:nvSpPr>
            <p:cNvPr id="4" name="TextBox 4"/>
            <p:cNvSpPr txBox="1"/>
            <p:nvPr/>
          </p:nvSpPr>
          <p:spPr>
            <a:xfrm>
              <a:off x="5700676" y="6340196"/>
              <a:ext cx="8525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77890" y="177890"/>
              <a:ext cx="7540542" cy="7184761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398475" y="1207409"/>
            <a:ext cx="7879772" cy="7872182"/>
            <a:chOff x="0" y="0"/>
            <a:chExt cx="10506362" cy="10496243"/>
          </a:xfrm>
        </p:grpSpPr>
        <p:sp>
          <p:nvSpPr>
            <p:cNvPr id="8" name="TextBox 8"/>
            <p:cNvSpPr txBox="1"/>
            <p:nvPr/>
          </p:nvSpPr>
          <p:spPr>
            <a:xfrm>
              <a:off x="6442432" y="4307244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506362" cy="10496243"/>
            </a:xfrm>
            <a:custGeom>
              <a:avLst/>
              <a:gdLst/>
              <a:ahLst/>
              <a:cxnLst/>
              <a:rect l="l" t="t" r="r" b="b"/>
              <a:pathLst>
                <a:path w="10506362" h="10496243">
                  <a:moveTo>
                    <a:pt x="0" y="0"/>
                  </a:moveTo>
                  <a:lnTo>
                    <a:pt x="10506362" y="0"/>
                  </a:lnTo>
                  <a:lnTo>
                    <a:pt x="10506362" y="10496243"/>
                  </a:lnTo>
                  <a:lnTo>
                    <a:pt x="0" y="10496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8111" y="1684515"/>
            <a:ext cx="6937728" cy="6926359"/>
            <a:chOff x="0" y="0"/>
            <a:chExt cx="9250303" cy="9235146"/>
          </a:xfrm>
        </p:grpSpPr>
        <p:sp>
          <p:nvSpPr>
            <p:cNvPr id="11" name="TextBox 11"/>
            <p:cNvSpPr txBox="1"/>
            <p:nvPr/>
          </p:nvSpPr>
          <p:spPr>
            <a:xfrm>
              <a:off x="4846624" y="3687979"/>
              <a:ext cx="19084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9250303" cy="9235146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3863286" y="4118675"/>
            <a:ext cx="7612850" cy="7606148"/>
            <a:chOff x="0" y="0"/>
            <a:chExt cx="10150466" cy="10141530"/>
          </a:xfrm>
        </p:grpSpPr>
        <p:sp>
          <p:nvSpPr>
            <p:cNvPr id="16" name="TextBox 16"/>
            <p:cNvSpPr txBox="1"/>
            <p:nvPr/>
          </p:nvSpPr>
          <p:spPr>
            <a:xfrm>
              <a:off x="5400421" y="5042039"/>
              <a:ext cx="19133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150466" cy="10141530"/>
            </a:xfrm>
            <a:custGeom>
              <a:avLst/>
              <a:gdLst/>
              <a:ahLst/>
              <a:cxnLst/>
              <a:rect l="l" t="t" r="r" b="b"/>
              <a:pathLst>
                <a:path w="10150466" h="10141530">
                  <a:moveTo>
                    <a:pt x="0" y="0"/>
                  </a:moveTo>
                  <a:lnTo>
                    <a:pt x="10150466" y="0"/>
                  </a:lnTo>
                  <a:lnTo>
                    <a:pt x="10150466" y="10141530"/>
                  </a:lnTo>
                  <a:lnTo>
                    <a:pt x="0" y="1014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9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956667" y="499488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822992" y="7640880"/>
            <a:ext cx="4094293" cy="4083943"/>
            <a:chOff x="0" y="0"/>
            <a:chExt cx="5459057" cy="5445257"/>
          </a:xfrm>
        </p:grpSpPr>
        <p:sp>
          <p:nvSpPr>
            <p:cNvPr id="26" name="TextBox 26"/>
            <p:cNvSpPr txBox="1"/>
            <p:nvPr/>
          </p:nvSpPr>
          <p:spPr>
            <a:xfrm>
              <a:off x="4236487" y="2713104"/>
              <a:ext cx="29525" cy="39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"/>
                </a:lnSpc>
                <a:spcBef>
                  <a:spcPct val="0"/>
                </a:spcBef>
              </a:pPr>
              <a:r>
                <a:rPr lang="en-US" sz="153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5459057" cy="5445257"/>
            </a:xfrm>
            <a:custGeom>
              <a:avLst/>
              <a:gdLst/>
              <a:ahLst/>
              <a:cxnLst/>
              <a:rect l="l" t="t" r="r" b="b"/>
              <a:pathLst>
                <a:path w="5459057" h="5445257">
                  <a:moveTo>
                    <a:pt x="0" y="0"/>
                  </a:moveTo>
                  <a:lnTo>
                    <a:pt x="5459057" y="0"/>
                  </a:lnTo>
                  <a:lnTo>
                    <a:pt x="5459057" y="5445257"/>
                  </a:lnTo>
                  <a:lnTo>
                    <a:pt x="0" y="5445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90466" y="6283343"/>
            <a:ext cx="7431490" cy="878612"/>
            <a:chOff x="0" y="0"/>
            <a:chExt cx="3878397" cy="4064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78397" cy="406401"/>
            </a:xfrm>
            <a:custGeom>
              <a:avLst/>
              <a:gdLst/>
              <a:ahLst/>
              <a:cxnLst/>
              <a:rect l="l" t="t" r="r" b="b"/>
              <a:pathLst>
                <a:path w="3878397" h="406401">
                  <a:moveTo>
                    <a:pt x="3675197" y="0"/>
                  </a:moveTo>
                  <a:cubicBezTo>
                    <a:pt x="3787421" y="0"/>
                    <a:pt x="3878397" y="90976"/>
                    <a:pt x="3878397" y="203200"/>
                  </a:cubicBezTo>
                  <a:cubicBezTo>
                    <a:pt x="3878397" y="315425"/>
                    <a:pt x="3787421" y="406401"/>
                    <a:pt x="3675197" y="406401"/>
                  </a:cubicBezTo>
                  <a:lnTo>
                    <a:pt x="203200" y="406401"/>
                  </a:lnTo>
                  <a:cubicBezTo>
                    <a:pt x="90976" y="406401"/>
                    <a:pt x="0" y="315425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964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878397" cy="444501"/>
            </a:xfrm>
            <a:prstGeom prst="rect">
              <a:avLst/>
            </a:prstGeom>
          </p:spPr>
          <p:txBody>
            <a:bodyPr lIns="20398" tIns="20398" rIns="20398" bIns="2039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AutoShape 31"/>
          <p:cNvSpPr/>
          <p:nvPr/>
        </p:nvSpPr>
        <p:spPr>
          <a:xfrm flipV="1">
            <a:off x="13182600" y="6242158"/>
            <a:ext cx="0" cy="878612"/>
          </a:xfrm>
          <a:prstGeom prst="line">
            <a:avLst/>
          </a:prstGeom>
          <a:ln w="38100" cap="flat">
            <a:solidFill>
              <a:srgbClr val="137D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  <p:sp>
        <p:nvSpPr>
          <p:cNvPr id="33" name="TextBox 33"/>
          <p:cNvSpPr txBox="1"/>
          <p:nvPr/>
        </p:nvSpPr>
        <p:spPr>
          <a:xfrm>
            <a:off x="8263595" y="6385013"/>
            <a:ext cx="4984514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FIRDAUS GOZALI</a:t>
            </a:r>
          </a:p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 DIFTA GIFFARI HAQ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82866" y="6237791"/>
            <a:ext cx="3049219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2619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2250081089</a:t>
            </a:r>
          </a:p>
          <a:p>
            <a:pPr algn="ctr">
              <a:lnSpc>
                <a:spcPts val="3667"/>
              </a:lnSpc>
            </a:pPr>
            <a:r>
              <a:rPr lang="en-US" sz="2619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2250081084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08052" y="2057098"/>
            <a:ext cx="5043" cy="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47953" y="3083744"/>
            <a:ext cx="8017549" cy="206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3200" b="1" i="1" spc="-250" dirty="0">
                <a:solidFill>
                  <a:srgbClr val="000000"/>
                </a:solidFill>
                <a:latin typeface="Body Grotesque Bold Italics"/>
                <a:ea typeface="Body Grotesque Bold Italics"/>
                <a:cs typeface="Body Grotesque Bold Italics"/>
                <a:sym typeface="Body Grotesque Bold Italics"/>
              </a:rPr>
              <a:t>PERANCANGAN SISTEM ADMINISTRASI DAN MANAJEMEN ABSENSI QR CODE UNTUK SEMINAR NASIONAL INFORMATIKA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08184" y="7411611"/>
            <a:ext cx="752725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0" dirty="0" err="1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Pembimbing</a:t>
            </a:r>
            <a:r>
              <a:rPr lang="en-US" sz="223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:</a:t>
            </a:r>
          </a:p>
          <a:p>
            <a:pPr algn="l">
              <a:lnSpc>
                <a:spcPts val="3123"/>
              </a:lnSpc>
            </a:pPr>
            <a:r>
              <a:rPr lang="en-US" sz="2230" dirty="0" err="1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Gunawan</a:t>
            </a:r>
            <a:r>
              <a:rPr lang="en-US" sz="223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</a:t>
            </a:r>
            <a:r>
              <a:rPr lang="en-US" sz="2230" dirty="0" err="1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Abdillah</a:t>
            </a:r>
            <a:r>
              <a:rPr lang="en-US" sz="223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, </a:t>
            </a:r>
            <a:r>
              <a:rPr lang="en-US" sz="2230" dirty="0" err="1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S.Si</a:t>
            </a:r>
            <a:r>
              <a:rPr lang="en-US" sz="2230" dirty="0">
                <a:solidFill>
                  <a:srgbClr val="000000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., M.Cs. </a:t>
            </a:r>
          </a:p>
        </p:txBody>
      </p:sp>
      <p:pic>
        <p:nvPicPr>
          <p:cNvPr id="41" name="Image 1" descr="Home - Universitas Jenderal Achmad Yani">
            <a:extLst>
              <a:ext uri="{FF2B5EF4-FFF2-40B4-BE49-F238E27FC236}">
                <a16:creationId xmlns:a16="http://schemas.microsoft.com/office/drawing/2014/main" id="{686D8151-5E33-4964-9C73-8CAB0747236C}"/>
              </a:ext>
            </a:extLst>
          </p:cNvPr>
          <p:cNvPicPr>
            <a:picLocks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33925" y="2057098"/>
            <a:ext cx="5518673" cy="5557543"/>
          </a:xfrm>
          <a:prstGeom prst="rect">
            <a:avLst/>
          </a:prstGeom>
        </p:spPr>
      </p:pic>
      <p:sp>
        <p:nvSpPr>
          <p:cNvPr id="46" name="Freeform 11">
            <a:extLst>
              <a:ext uri="{FF2B5EF4-FFF2-40B4-BE49-F238E27FC236}">
                <a16:creationId xmlns:a16="http://schemas.microsoft.com/office/drawing/2014/main" id="{4F145379-C3CE-4670-ABD5-8B4B9718085C}"/>
              </a:ext>
            </a:extLst>
          </p:cNvPr>
          <p:cNvSpPr/>
          <p:nvPr/>
        </p:nvSpPr>
        <p:spPr>
          <a:xfrm>
            <a:off x="42013" y="135446"/>
            <a:ext cx="1772194" cy="1775635"/>
          </a:xfrm>
          <a:custGeom>
            <a:avLst/>
            <a:gdLst/>
            <a:ahLst/>
            <a:cxnLst/>
            <a:rect l="l" t="t" r="r" b="b"/>
            <a:pathLst>
              <a:path w="1218618" h="1218618">
                <a:moveTo>
                  <a:pt x="0" y="0"/>
                </a:moveTo>
                <a:lnTo>
                  <a:pt x="1218618" y="0"/>
                </a:lnTo>
                <a:lnTo>
                  <a:pt x="1218618" y="1218618"/>
                </a:lnTo>
                <a:lnTo>
                  <a:pt x="0" y="12186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935" y="-274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2293833" y="3643312"/>
            <a:ext cx="8293557" cy="8704243"/>
            <a:chOff x="0" y="0"/>
            <a:chExt cx="11058076" cy="11605658"/>
          </a:xfrm>
        </p:grpSpPr>
        <p:sp>
          <p:nvSpPr>
            <p:cNvPr id="4" name="TextBox 4"/>
            <p:cNvSpPr txBox="1"/>
            <p:nvPr/>
          </p:nvSpPr>
          <p:spPr>
            <a:xfrm>
              <a:off x="8773919" y="9763338"/>
              <a:ext cx="13122" cy="3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"/>
                </a:lnSpc>
                <a:spcBef>
                  <a:spcPct val="0"/>
                </a:spcBef>
              </a:pPr>
              <a:r>
                <a:rPr lang="en-US" sz="153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273791" y="273791"/>
              <a:ext cx="11605658" cy="11058076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 rot="-10800000">
            <a:off x="15196758" y="8226445"/>
            <a:ext cx="4125084" cy="4121111"/>
            <a:chOff x="0" y="0"/>
            <a:chExt cx="5500111" cy="5494814"/>
          </a:xfrm>
        </p:grpSpPr>
        <p:sp>
          <p:nvSpPr>
            <p:cNvPr id="8" name="TextBox 8"/>
            <p:cNvSpPr txBox="1"/>
            <p:nvPr/>
          </p:nvSpPr>
          <p:spPr>
            <a:xfrm>
              <a:off x="3372632" y="2259841"/>
              <a:ext cx="9914" cy="10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500111" cy="5494814"/>
            </a:xfrm>
            <a:custGeom>
              <a:avLst/>
              <a:gdLst/>
              <a:ahLst/>
              <a:cxnLst/>
              <a:rect l="l" t="t" r="r" b="b"/>
              <a:pathLst>
                <a:path w="5500111" h="5494814">
                  <a:moveTo>
                    <a:pt x="0" y="0"/>
                  </a:moveTo>
                  <a:lnTo>
                    <a:pt x="5500111" y="0"/>
                  </a:lnTo>
                  <a:lnTo>
                    <a:pt x="5500111" y="5494814"/>
                  </a:lnTo>
                  <a:lnTo>
                    <a:pt x="0" y="5494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5275698" y="7455313"/>
            <a:ext cx="6645065" cy="6634177"/>
            <a:chOff x="0" y="0"/>
            <a:chExt cx="8860087" cy="8845569"/>
          </a:xfrm>
        </p:grpSpPr>
        <p:sp>
          <p:nvSpPr>
            <p:cNvPr id="11" name="TextBox 11"/>
            <p:cNvSpPr txBox="1"/>
            <p:nvPr/>
          </p:nvSpPr>
          <p:spPr>
            <a:xfrm>
              <a:off x="4642174" y="3532003"/>
              <a:ext cx="18279" cy="27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4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8860087" cy="8845569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-10800000">
            <a:off x="12296019" y="6001849"/>
            <a:ext cx="7534854" cy="7528221"/>
            <a:chOff x="0" y="0"/>
            <a:chExt cx="10046473" cy="10037628"/>
          </a:xfrm>
        </p:grpSpPr>
        <p:sp>
          <p:nvSpPr>
            <p:cNvPr id="16" name="TextBox 16"/>
            <p:cNvSpPr txBox="1"/>
            <p:nvPr/>
          </p:nvSpPr>
          <p:spPr>
            <a:xfrm>
              <a:off x="5345092" y="4990285"/>
              <a:ext cx="18937" cy="28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8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046473" cy="10037628"/>
            </a:xfrm>
            <a:custGeom>
              <a:avLst/>
              <a:gdLst/>
              <a:ahLst/>
              <a:cxnLst/>
              <a:rect l="l" t="t" r="r" b="b"/>
              <a:pathLst>
                <a:path w="10046473" h="10037628">
                  <a:moveTo>
                    <a:pt x="0" y="0"/>
                  </a:moveTo>
                  <a:lnTo>
                    <a:pt x="10046473" y="0"/>
                  </a:lnTo>
                  <a:lnTo>
                    <a:pt x="10046473" y="10037628"/>
                  </a:lnTo>
                  <a:lnTo>
                    <a:pt x="0" y="10037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6402778" y="0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14871889" y="8939821"/>
            <a:ext cx="2498287" cy="2491972"/>
            <a:chOff x="0" y="0"/>
            <a:chExt cx="3331049" cy="3322629"/>
          </a:xfrm>
        </p:grpSpPr>
        <p:sp>
          <p:nvSpPr>
            <p:cNvPr id="22" name="TextBox 22"/>
            <p:cNvSpPr txBox="1"/>
            <p:nvPr/>
          </p:nvSpPr>
          <p:spPr>
            <a:xfrm>
              <a:off x="2585052" y="1651790"/>
              <a:ext cx="18016" cy="27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3331049" cy="3322629"/>
            </a:xfrm>
            <a:custGeom>
              <a:avLst/>
              <a:gdLst/>
              <a:ahLst/>
              <a:cxnLst/>
              <a:rect l="l" t="t" r="r" b="b"/>
              <a:pathLst>
                <a:path w="3331049" h="3322629">
                  <a:moveTo>
                    <a:pt x="0" y="0"/>
                  </a:moveTo>
                  <a:lnTo>
                    <a:pt x="3331049" y="0"/>
                  </a:lnTo>
                  <a:lnTo>
                    <a:pt x="3331049" y="3322629"/>
                  </a:lnTo>
                  <a:lnTo>
                    <a:pt x="0" y="3322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19831" y="119601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7750" y="625293"/>
            <a:ext cx="9185469" cy="86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LATAR BELAKANG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2078301"/>
            <a:ext cx="5283547" cy="5377011"/>
            <a:chOff x="0" y="0"/>
            <a:chExt cx="7044730" cy="71693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44817" cy="7169403"/>
            </a:xfrm>
            <a:custGeom>
              <a:avLst/>
              <a:gdLst/>
              <a:ahLst/>
              <a:cxnLst/>
              <a:rect l="l" t="t" r="r" b="b"/>
              <a:pathLst>
                <a:path w="7044817" h="7169403">
                  <a:moveTo>
                    <a:pt x="0" y="82169"/>
                  </a:moveTo>
                  <a:cubicBezTo>
                    <a:pt x="0" y="36830"/>
                    <a:pt x="36703" y="0"/>
                    <a:pt x="82169" y="0"/>
                  </a:cubicBezTo>
                  <a:lnTo>
                    <a:pt x="6962648" y="0"/>
                  </a:lnTo>
                  <a:lnTo>
                    <a:pt x="6962648" y="25400"/>
                  </a:lnTo>
                  <a:lnTo>
                    <a:pt x="6962648" y="0"/>
                  </a:lnTo>
                  <a:cubicBezTo>
                    <a:pt x="7007987" y="0"/>
                    <a:pt x="7044817" y="36830"/>
                    <a:pt x="7044817" y="82169"/>
                  </a:cubicBezTo>
                  <a:lnTo>
                    <a:pt x="7019417" y="82169"/>
                  </a:lnTo>
                  <a:lnTo>
                    <a:pt x="7044817" y="82169"/>
                  </a:lnTo>
                  <a:lnTo>
                    <a:pt x="7044817" y="7087235"/>
                  </a:lnTo>
                  <a:lnTo>
                    <a:pt x="7019417" y="7087235"/>
                  </a:lnTo>
                  <a:lnTo>
                    <a:pt x="7044817" y="7087235"/>
                  </a:lnTo>
                  <a:cubicBezTo>
                    <a:pt x="7044817" y="7132574"/>
                    <a:pt x="7008114" y="7169403"/>
                    <a:pt x="6962648" y="7169403"/>
                  </a:cubicBezTo>
                  <a:lnTo>
                    <a:pt x="6962648" y="7144003"/>
                  </a:lnTo>
                  <a:lnTo>
                    <a:pt x="6962648" y="7169403"/>
                  </a:lnTo>
                  <a:lnTo>
                    <a:pt x="82169" y="7169403"/>
                  </a:lnTo>
                  <a:lnTo>
                    <a:pt x="82169" y="7144003"/>
                  </a:lnTo>
                  <a:lnTo>
                    <a:pt x="82169" y="7169403"/>
                  </a:lnTo>
                  <a:cubicBezTo>
                    <a:pt x="36830" y="7169403"/>
                    <a:pt x="0" y="7132574"/>
                    <a:pt x="0" y="7087235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7087235"/>
                  </a:lnTo>
                  <a:lnTo>
                    <a:pt x="25400" y="7087235"/>
                  </a:lnTo>
                  <a:lnTo>
                    <a:pt x="50800" y="7087235"/>
                  </a:lnTo>
                  <a:cubicBezTo>
                    <a:pt x="50800" y="7104507"/>
                    <a:pt x="64770" y="7118603"/>
                    <a:pt x="82169" y="7118603"/>
                  </a:cubicBezTo>
                  <a:lnTo>
                    <a:pt x="6962648" y="7118603"/>
                  </a:lnTo>
                  <a:cubicBezTo>
                    <a:pt x="6979920" y="7118603"/>
                    <a:pt x="6994017" y="7104634"/>
                    <a:pt x="6994017" y="7087235"/>
                  </a:cubicBezTo>
                  <a:lnTo>
                    <a:pt x="6994017" y="82169"/>
                  </a:lnTo>
                  <a:cubicBezTo>
                    <a:pt x="6994017" y="64897"/>
                    <a:pt x="6980047" y="50800"/>
                    <a:pt x="696264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58457" y="2207472"/>
            <a:ext cx="4880827" cy="2714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Seminar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nasional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diselenggarakan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perguruan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lembaga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akademik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berbagi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memperluas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557665" y="2078301"/>
            <a:ext cx="5283547" cy="5377011"/>
            <a:chOff x="0" y="0"/>
            <a:chExt cx="7044730" cy="71693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44817" cy="7169403"/>
            </a:xfrm>
            <a:custGeom>
              <a:avLst/>
              <a:gdLst/>
              <a:ahLst/>
              <a:cxnLst/>
              <a:rect l="l" t="t" r="r" b="b"/>
              <a:pathLst>
                <a:path w="7044817" h="7169403">
                  <a:moveTo>
                    <a:pt x="0" y="82169"/>
                  </a:moveTo>
                  <a:cubicBezTo>
                    <a:pt x="0" y="36830"/>
                    <a:pt x="36703" y="0"/>
                    <a:pt x="82169" y="0"/>
                  </a:cubicBezTo>
                  <a:lnTo>
                    <a:pt x="6962648" y="0"/>
                  </a:lnTo>
                  <a:lnTo>
                    <a:pt x="6962648" y="25400"/>
                  </a:lnTo>
                  <a:lnTo>
                    <a:pt x="6962648" y="0"/>
                  </a:lnTo>
                  <a:cubicBezTo>
                    <a:pt x="7007987" y="0"/>
                    <a:pt x="7044817" y="36830"/>
                    <a:pt x="7044817" y="82169"/>
                  </a:cubicBezTo>
                  <a:lnTo>
                    <a:pt x="7019417" y="82169"/>
                  </a:lnTo>
                  <a:lnTo>
                    <a:pt x="7044817" y="82169"/>
                  </a:lnTo>
                  <a:lnTo>
                    <a:pt x="7044817" y="7087235"/>
                  </a:lnTo>
                  <a:lnTo>
                    <a:pt x="7019417" y="7087235"/>
                  </a:lnTo>
                  <a:lnTo>
                    <a:pt x="7044817" y="7087235"/>
                  </a:lnTo>
                  <a:cubicBezTo>
                    <a:pt x="7044817" y="7132574"/>
                    <a:pt x="7008114" y="7169403"/>
                    <a:pt x="6962648" y="7169403"/>
                  </a:cubicBezTo>
                  <a:lnTo>
                    <a:pt x="6962648" y="7144003"/>
                  </a:lnTo>
                  <a:lnTo>
                    <a:pt x="6962648" y="7169403"/>
                  </a:lnTo>
                  <a:lnTo>
                    <a:pt x="82169" y="7169403"/>
                  </a:lnTo>
                  <a:lnTo>
                    <a:pt x="82169" y="7144003"/>
                  </a:lnTo>
                  <a:lnTo>
                    <a:pt x="82169" y="7169403"/>
                  </a:lnTo>
                  <a:cubicBezTo>
                    <a:pt x="36830" y="7169403"/>
                    <a:pt x="0" y="7132574"/>
                    <a:pt x="0" y="7087235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7087235"/>
                  </a:lnTo>
                  <a:lnTo>
                    <a:pt x="25400" y="7087235"/>
                  </a:lnTo>
                  <a:lnTo>
                    <a:pt x="50800" y="7087235"/>
                  </a:lnTo>
                  <a:cubicBezTo>
                    <a:pt x="50800" y="7104507"/>
                    <a:pt x="64770" y="7118603"/>
                    <a:pt x="82169" y="7118603"/>
                  </a:cubicBezTo>
                  <a:lnTo>
                    <a:pt x="6962648" y="7118603"/>
                  </a:lnTo>
                  <a:cubicBezTo>
                    <a:pt x="6979920" y="7118603"/>
                    <a:pt x="6994017" y="7104634"/>
                    <a:pt x="6994017" y="7087235"/>
                  </a:cubicBezTo>
                  <a:lnTo>
                    <a:pt x="6994017" y="82169"/>
                  </a:lnTo>
                  <a:cubicBezTo>
                    <a:pt x="6994017" y="64897"/>
                    <a:pt x="6980047" y="50800"/>
                    <a:pt x="696264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769346" y="2142364"/>
            <a:ext cx="4769884" cy="2720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D" sz="2000" dirty="0"/>
              <a:t>Proses </a:t>
            </a:r>
            <a:r>
              <a:rPr lang="en-ID" sz="2000" dirty="0" err="1"/>
              <a:t>absensi</a:t>
            </a:r>
            <a:r>
              <a:rPr lang="en-ID" sz="2000" dirty="0"/>
              <a:t> seminar yang </a:t>
            </a:r>
            <a:r>
              <a:rPr lang="en-ID" sz="2000" dirty="0" err="1"/>
              <a:t>masih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kertas</a:t>
            </a:r>
            <a:r>
              <a:rPr lang="en-ID" sz="2000" dirty="0"/>
              <a:t> </a:t>
            </a:r>
            <a:r>
              <a:rPr lang="en-ID" sz="2000" dirty="0" err="1"/>
              <a:t>sering</a:t>
            </a:r>
            <a:r>
              <a:rPr lang="en-ID" sz="2000" dirty="0"/>
              <a:t> </a:t>
            </a:r>
            <a:r>
              <a:rPr lang="en-ID" sz="2000" dirty="0" err="1"/>
              <a:t>menimbulkan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antrian</a:t>
            </a:r>
            <a:r>
              <a:rPr lang="en-ID" sz="2000" dirty="0"/>
              <a:t> </a:t>
            </a:r>
            <a:r>
              <a:rPr lang="en-ID" sz="2000" dirty="0" err="1"/>
              <a:t>panjang</a:t>
            </a:r>
            <a:r>
              <a:rPr lang="en-ID" sz="2000" dirty="0"/>
              <a:t>, </a:t>
            </a:r>
            <a:r>
              <a:rPr lang="en-ID" sz="2000" dirty="0" err="1"/>
              <a:t>kesalahan</a:t>
            </a:r>
            <a:r>
              <a:rPr lang="en-ID" sz="2000" dirty="0"/>
              <a:t> </a:t>
            </a:r>
            <a:r>
              <a:rPr lang="en-ID" sz="2000" dirty="0" err="1"/>
              <a:t>pencatatan</a:t>
            </a:r>
            <a:r>
              <a:rPr lang="en-ID" sz="2000" dirty="0"/>
              <a:t>, </a:t>
            </a:r>
            <a:r>
              <a:rPr lang="en-ID" sz="2000" dirty="0" err="1"/>
              <a:t>potensi</a:t>
            </a:r>
            <a:r>
              <a:rPr lang="en-ID" sz="2000" dirty="0"/>
              <a:t> </a:t>
            </a:r>
            <a:r>
              <a:rPr lang="en-ID" sz="2000" dirty="0" err="1"/>
              <a:t>kecurangan</a:t>
            </a:r>
            <a:r>
              <a:rPr lang="en-ID" sz="2000" dirty="0"/>
              <a:t>, dan </a:t>
            </a:r>
            <a:r>
              <a:rPr lang="en-ID" sz="2000" dirty="0" err="1"/>
              <a:t>keterlambatan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pembuatan</a:t>
            </a:r>
            <a:r>
              <a:rPr lang="en-ID" sz="2000" dirty="0"/>
              <a:t> </a:t>
            </a:r>
            <a:r>
              <a:rPr lang="en-ID" sz="2000" dirty="0" err="1"/>
              <a:t>laporan</a:t>
            </a:r>
            <a:r>
              <a:rPr lang="en-ID" sz="2000" dirty="0"/>
              <a:t> </a:t>
            </a:r>
            <a:r>
              <a:rPr lang="en-ID" sz="2000" dirty="0" err="1"/>
              <a:t>kehadiran</a:t>
            </a:r>
            <a:r>
              <a:rPr lang="en-ID" sz="2000" dirty="0"/>
              <a:t>. </a:t>
            </a:r>
            <a:endParaRPr lang="en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2086629" y="2078301"/>
            <a:ext cx="5283547" cy="5377011"/>
            <a:chOff x="0" y="0"/>
            <a:chExt cx="7044730" cy="71693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44817" cy="7169403"/>
            </a:xfrm>
            <a:custGeom>
              <a:avLst/>
              <a:gdLst/>
              <a:ahLst/>
              <a:cxnLst/>
              <a:rect l="l" t="t" r="r" b="b"/>
              <a:pathLst>
                <a:path w="7044817" h="7169403">
                  <a:moveTo>
                    <a:pt x="0" y="82169"/>
                  </a:moveTo>
                  <a:cubicBezTo>
                    <a:pt x="0" y="36830"/>
                    <a:pt x="36703" y="0"/>
                    <a:pt x="82169" y="0"/>
                  </a:cubicBezTo>
                  <a:lnTo>
                    <a:pt x="6962648" y="0"/>
                  </a:lnTo>
                  <a:lnTo>
                    <a:pt x="6962648" y="25400"/>
                  </a:lnTo>
                  <a:lnTo>
                    <a:pt x="6962648" y="0"/>
                  </a:lnTo>
                  <a:cubicBezTo>
                    <a:pt x="7007987" y="0"/>
                    <a:pt x="7044817" y="36830"/>
                    <a:pt x="7044817" y="82169"/>
                  </a:cubicBezTo>
                  <a:lnTo>
                    <a:pt x="7019417" y="82169"/>
                  </a:lnTo>
                  <a:lnTo>
                    <a:pt x="7044817" y="82169"/>
                  </a:lnTo>
                  <a:lnTo>
                    <a:pt x="7044817" y="7087235"/>
                  </a:lnTo>
                  <a:lnTo>
                    <a:pt x="7019417" y="7087235"/>
                  </a:lnTo>
                  <a:lnTo>
                    <a:pt x="7044817" y="7087235"/>
                  </a:lnTo>
                  <a:cubicBezTo>
                    <a:pt x="7044817" y="7132574"/>
                    <a:pt x="7008114" y="7169403"/>
                    <a:pt x="6962648" y="7169403"/>
                  </a:cubicBezTo>
                  <a:lnTo>
                    <a:pt x="6962648" y="7144003"/>
                  </a:lnTo>
                  <a:lnTo>
                    <a:pt x="6962648" y="7169403"/>
                  </a:lnTo>
                  <a:lnTo>
                    <a:pt x="82169" y="7169403"/>
                  </a:lnTo>
                  <a:lnTo>
                    <a:pt x="82169" y="7144003"/>
                  </a:lnTo>
                  <a:lnTo>
                    <a:pt x="82169" y="7169403"/>
                  </a:lnTo>
                  <a:cubicBezTo>
                    <a:pt x="36830" y="7169403"/>
                    <a:pt x="0" y="7132574"/>
                    <a:pt x="0" y="7087235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7087235"/>
                  </a:lnTo>
                  <a:lnTo>
                    <a:pt x="25400" y="7087235"/>
                  </a:lnTo>
                  <a:lnTo>
                    <a:pt x="50800" y="7087235"/>
                  </a:lnTo>
                  <a:cubicBezTo>
                    <a:pt x="50800" y="7104507"/>
                    <a:pt x="64770" y="7118603"/>
                    <a:pt x="82169" y="7118603"/>
                  </a:cubicBezTo>
                  <a:lnTo>
                    <a:pt x="6962648" y="7118603"/>
                  </a:lnTo>
                  <a:cubicBezTo>
                    <a:pt x="6979920" y="7118603"/>
                    <a:pt x="6994017" y="7104634"/>
                    <a:pt x="6994017" y="7087235"/>
                  </a:cubicBezTo>
                  <a:lnTo>
                    <a:pt x="6994017" y="82169"/>
                  </a:lnTo>
                  <a:cubicBezTo>
                    <a:pt x="6994017" y="64897"/>
                    <a:pt x="6980047" y="50800"/>
                    <a:pt x="6962648" y="50800"/>
                  </a:cubicBezTo>
                  <a:lnTo>
                    <a:pt x="82169" y="50800"/>
                  </a:lnTo>
                  <a:lnTo>
                    <a:pt x="82169" y="25400"/>
                  </a:lnTo>
                  <a:lnTo>
                    <a:pt x="82169" y="50800"/>
                  </a:lnTo>
                  <a:cubicBezTo>
                    <a:pt x="64770" y="50800"/>
                    <a:pt x="50800" y="64770"/>
                    <a:pt x="50800" y="82169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456348" y="2002834"/>
            <a:ext cx="4602213" cy="548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penggunaan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Quick Response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(QR)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menjadi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salah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satu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solusi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efektif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meningkatkan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kemudahan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akurasi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proses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absensi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QR Code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memungkinkan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identifikasi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peserta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dilakukan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cepat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otomatis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hanya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melakukan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pemindaian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melalui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perangkat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smartphone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scanner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Teknologi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juga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dikombinasikan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basis data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mengelola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peserta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teratur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sehingga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laporan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kehadiran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dihasilkan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akurat</a:t>
            </a:r>
            <a:r>
              <a:rPr lang="en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4545210" y="-2429164"/>
            <a:ext cx="5077263" cy="5328682"/>
            <a:chOff x="0" y="0"/>
            <a:chExt cx="6769684" cy="7104910"/>
          </a:xfrm>
        </p:grpSpPr>
        <p:sp>
          <p:nvSpPr>
            <p:cNvPr id="4" name="TextBox 4"/>
            <p:cNvSpPr txBox="1"/>
            <p:nvPr/>
          </p:nvSpPr>
          <p:spPr>
            <a:xfrm>
              <a:off x="5371337" y="5973360"/>
              <a:ext cx="8033" cy="2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67613" y="167613"/>
              <a:ext cx="7104910" cy="6769684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-888250" y="-1730960"/>
            <a:ext cx="3465257" cy="3461919"/>
            <a:chOff x="0" y="0"/>
            <a:chExt cx="4620342" cy="4615892"/>
          </a:xfrm>
        </p:grpSpPr>
        <p:sp>
          <p:nvSpPr>
            <p:cNvPr id="8" name="TextBox 8"/>
            <p:cNvSpPr txBox="1"/>
            <p:nvPr/>
          </p:nvSpPr>
          <p:spPr>
            <a:xfrm>
              <a:off x="2833163" y="1898369"/>
              <a:ext cx="8328" cy="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4620342" cy="4615892"/>
            </a:xfrm>
            <a:custGeom>
              <a:avLst/>
              <a:gdLst/>
              <a:ahLst/>
              <a:cxnLst/>
              <a:rect l="l" t="t" r="r" b="b"/>
              <a:pathLst>
                <a:path w="4620342" h="4615892">
                  <a:moveTo>
                    <a:pt x="0" y="0"/>
                  </a:moveTo>
                  <a:lnTo>
                    <a:pt x="4620342" y="0"/>
                  </a:lnTo>
                  <a:lnTo>
                    <a:pt x="4620342" y="4615892"/>
                  </a:lnTo>
                  <a:lnTo>
                    <a:pt x="0" y="461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19075" y="4203637"/>
            <a:ext cx="9367193" cy="9351844"/>
            <a:chOff x="0" y="0"/>
            <a:chExt cx="12489590" cy="12469125"/>
          </a:xfrm>
        </p:grpSpPr>
        <p:sp>
          <p:nvSpPr>
            <p:cNvPr id="11" name="TextBox 11"/>
            <p:cNvSpPr txBox="1"/>
            <p:nvPr/>
          </p:nvSpPr>
          <p:spPr>
            <a:xfrm>
              <a:off x="6543824" y="4992302"/>
              <a:ext cx="25767" cy="2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"/>
                </a:lnSpc>
                <a:spcBef>
                  <a:spcPct val="0"/>
                </a:spcBef>
              </a:pPr>
              <a:r>
                <a:rPr lang="en-US" sz="13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12489590" cy="12469125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5400000">
            <a:off x="-2315371" y="5905109"/>
            <a:ext cx="5954141" cy="5948899"/>
            <a:chOff x="0" y="0"/>
            <a:chExt cx="7938855" cy="7931866"/>
          </a:xfrm>
        </p:grpSpPr>
        <p:sp>
          <p:nvSpPr>
            <p:cNvPr id="16" name="TextBox 16"/>
            <p:cNvSpPr txBox="1"/>
            <p:nvPr/>
          </p:nvSpPr>
          <p:spPr>
            <a:xfrm>
              <a:off x="4223762" y="3941390"/>
              <a:ext cx="14964" cy="24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938855" cy="7931866"/>
            </a:xfrm>
            <a:custGeom>
              <a:avLst/>
              <a:gdLst/>
              <a:ahLst/>
              <a:cxnLst/>
              <a:rect l="l" t="t" r="r" b="b"/>
              <a:pathLst>
                <a:path w="7938855" h="7931866">
                  <a:moveTo>
                    <a:pt x="0" y="0"/>
                  </a:moveTo>
                  <a:lnTo>
                    <a:pt x="7938855" y="0"/>
                  </a:lnTo>
                  <a:lnTo>
                    <a:pt x="7938855" y="7931866"/>
                  </a:lnTo>
                  <a:lnTo>
                    <a:pt x="0" y="7931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94822" y="8584711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2104968" y="370652"/>
            <a:ext cx="3091464" cy="3083650"/>
            <a:chOff x="0" y="0"/>
            <a:chExt cx="4121952" cy="4111533"/>
          </a:xfrm>
        </p:grpSpPr>
        <p:sp>
          <p:nvSpPr>
            <p:cNvPr id="22" name="TextBox 22"/>
            <p:cNvSpPr txBox="1"/>
            <p:nvPr/>
          </p:nvSpPr>
          <p:spPr>
            <a:xfrm>
              <a:off x="3198831" y="2055766"/>
              <a:ext cx="22294" cy="22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"/>
                </a:lnSpc>
                <a:spcBef>
                  <a:spcPct val="0"/>
                </a:spcBef>
              </a:pPr>
              <a:r>
                <a:rPr lang="en-US" sz="11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4121952" cy="4111533"/>
            </a:xfrm>
            <a:custGeom>
              <a:avLst/>
              <a:gdLst/>
              <a:ahLst/>
              <a:cxnLst/>
              <a:rect l="l" t="t" r="r" b="b"/>
              <a:pathLst>
                <a:path w="4121952" h="4111533">
                  <a:moveTo>
                    <a:pt x="0" y="0"/>
                  </a:moveTo>
                  <a:lnTo>
                    <a:pt x="4121952" y="0"/>
                  </a:lnTo>
                  <a:lnTo>
                    <a:pt x="4121952" y="4111533"/>
                  </a:lnTo>
                  <a:lnTo>
                    <a:pt x="0" y="4111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19831" y="87985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608828" y="2122042"/>
            <a:ext cx="5941096" cy="6253104"/>
            <a:chOff x="0" y="0"/>
            <a:chExt cx="1709580" cy="17993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09580" cy="1799362"/>
            </a:xfrm>
            <a:custGeom>
              <a:avLst/>
              <a:gdLst/>
              <a:ahLst/>
              <a:cxnLst/>
              <a:rect l="l" t="t" r="r" b="b"/>
              <a:pathLst>
                <a:path w="1709580" h="1799362">
                  <a:moveTo>
                    <a:pt x="39093" y="0"/>
                  </a:moveTo>
                  <a:lnTo>
                    <a:pt x="1670487" y="0"/>
                  </a:lnTo>
                  <a:cubicBezTo>
                    <a:pt x="1692077" y="0"/>
                    <a:pt x="1709580" y="17503"/>
                    <a:pt x="1709580" y="39093"/>
                  </a:cubicBezTo>
                  <a:lnTo>
                    <a:pt x="1709580" y="1760268"/>
                  </a:lnTo>
                  <a:cubicBezTo>
                    <a:pt x="1709580" y="1770636"/>
                    <a:pt x="1705461" y="1780580"/>
                    <a:pt x="1698130" y="1787911"/>
                  </a:cubicBezTo>
                  <a:cubicBezTo>
                    <a:pt x="1690798" y="1795243"/>
                    <a:pt x="1680855" y="1799362"/>
                    <a:pt x="1670487" y="1799362"/>
                  </a:cubicBezTo>
                  <a:lnTo>
                    <a:pt x="39093" y="1799362"/>
                  </a:lnTo>
                  <a:cubicBezTo>
                    <a:pt x="28725" y="1799362"/>
                    <a:pt x="18782" y="1795243"/>
                    <a:pt x="11450" y="1787911"/>
                  </a:cubicBezTo>
                  <a:cubicBezTo>
                    <a:pt x="4119" y="1780580"/>
                    <a:pt x="0" y="1770636"/>
                    <a:pt x="0" y="1760268"/>
                  </a:cubicBezTo>
                  <a:lnTo>
                    <a:pt x="0" y="39093"/>
                  </a:lnTo>
                  <a:cubicBezTo>
                    <a:pt x="0" y="28725"/>
                    <a:pt x="4119" y="18782"/>
                    <a:pt x="11450" y="11450"/>
                  </a:cubicBezTo>
                  <a:cubicBezTo>
                    <a:pt x="18782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137D4C"/>
              </a:solidFill>
              <a:prstDash val="solid"/>
              <a:round/>
            </a:ln>
          </p:spPr>
          <p:txBody>
            <a:bodyPr/>
            <a:lstStyle/>
            <a:p>
              <a:endParaRPr lang="id-ID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85725"/>
              <a:ext cx="1709580" cy="1713637"/>
            </a:xfrm>
            <a:prstGeom prst="rect">
              <a:avLst/>
            </a:prstGeom>
          </p:spPr>
          <p:txBody>
            <a:bodyPr lIns="46496" tIns="46496" rIns="46496" bIns="46496" rtlCol="0" anchor="ctr"/>
            <a:lstStyle/>
            <a:p>
              <a:pPr algn="ctr">
                <a:lnSpc>
                  <a:spcPts val="169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86496" y="1050438"/>
            <a:ext cx="16539504" cy="867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RUMUSAN MASALAH &amp; TUJUAN PENELITIAN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37084" y="2259053"/>
            <a:ext cx="3544044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 dirty="0" err="1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Rumusan</a:t>
            </a:r>
            <a:r>
              <a:rPr lang="en-US" sz="2750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750" b="1" dirty="0" err="1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Masalah</a:t>
            </a:r>
            <a:endParaRPr lang="en-US" sz="2750" b="1" dirty="0">
              <a:solidFill>
                <a:srgbClr val="030303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64151" y="2750124"/>
            <a:ext cx="5430449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Proses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seminar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menandatangani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daftar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panitia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Cara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menimbulkan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kecurangan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pengisian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keterlambatan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panitia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menyusun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menghambat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kelancaran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jalannya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seminar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profesionalitas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penyelenggaraan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acara.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144000" y="2122042"/>
            <a:ext cx="7475831" cy="6253104"/>
            <a:chOff x="0" y="0"/>
            <a:chExt cx="2151208" cy="179936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51208" cy="1799362"/>
            </a:xfrm>
            <a:custGeom>
              <a:avLst/>
              <a:gdLst/>
              <a:ahLst/>
              <a:cxnLst/>
              <a:rect l="l" t="t" r="r" b="b"/>
              <a:pathLst>
                <a:path w="2151208" h="1799362">
                  <a:moveTo>
                    <a:pt x="31068" y="0"/>
                  </a:moveTo>
                  <a:lnTo>
                    <a:pt x="2120140" y="0"/>
                  </a:lnTo>
                  <a:cubicBezTo>
                    <a:pt x="2128380" y="0"/>
                    <a:pt x="2136282" y="3273"/>
                    <a:pt x="2142108" y="9100"/>
                  </a:cubicBezTo>
                  <a:cubicBezTo>
                    <a:pt x="2147934" y="14926"/>
                    <a:pt x="2151208" y="22828"/>
                    <a:pt x="2151208" y="31068"/>
                  </a:cubicBezTo>
                  <a:lnTo>
                    <a:pt x="2151208" y="1768294"/>
                  </a:lnTo>
                  <a:cubicBezTo>
                    <a:pt x="2151208" y="1776534"/>
                    <a:pt x="2147934" y="1784436"/>
                    <a:pt x="2142108" y="1790262"/>
                  </a:cubicBezTo>
                  <a:cubicBezTo>
                    <a:pt x="2136282" y="1796088"/>
                    <a:pt x="2128380" y="1799362"/>
                    <a:pt x="2120140" y="1799362"/>
                  </a:cubicBezTo>
                  <a:lnTo>
                    <a:pt x="31068" y="1799362"/>
                  </a:lnTo>
                  <a:cubicBezTo>
                    <a:pt x="22828" y="1799362"/>
                    <a:pt x="14926" y="1796088"/>
                    <a:pt x="9100" y="1790262"/>
                  </a:cubicBezTo>
                  <a:cubicBezTo>
                    <a:pt x="3273" y="1784436"/>
                    <a:pt x="0" y="1776534"/>
                    <a:pt x="0" y="1768294"/>
                  </a:cubicBezTo>
                  <a:lnTo>
                    <a:pt x="0" y="31068"/>
                  </a:lnTo>
                  <a:cubicBezTo>
                    <a:pt x="0" y="22828"/>
                    <a:pt x="3273" y="14926"/>
                    <a:pt x="9100" y="9100"/>
                  </a:cubicBezTo>
                  <a:cubicBezTo>
                    <a:pt x="14926" y="3273"/>
                    <a:pt x="22828" y="0"/>
                    <a:pt x="31068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137D4C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85725"/>
              <a:ext cx="2151208" cy="1713637"/>
            </a:xfrm>
            <a:prstGeom prst="rect">
              <a:avLst/>
            </a:prstGeom>
          </p:spPr>
          <p:txBody>
            <a:bodyPr lIns="46496" tIns="46496" rIns="46496" bIns="46496" rtlCol="0" anchor="ctr"/>
            <a:lstStyle/>
            <a:p>
              <a:pPr algn="ctr">
                <a:lnSpc>
                  <a:spcPts val="1696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09894" y="2259053"/>
            <a:ext cx="3544044" cy="42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Tujuan Penelitian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77955" y="2750124"/>
            <a:ext cx="6401217" cy="5028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Maksud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Seminar Nasional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keterlambatan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mempermudah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mempercepat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panitia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terstruktur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menghadirkan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kelancaran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seminar.</a:t>
            </a:r>
            <a:endParaRPr lang="en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29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4545210" y="-2429164"/>
            <a:ext cx="5077263" cy="5328682"/>
            <a:chOff x="0" y="0"/>
            <a:chExt cx="6769684" cy="7104910"/>
          </a:xfrm>
        </p:grpSpPr>
        <p:sp>
          <p:nvSpPr>
            <p:cNvPr id="4" name="TextBox 4"/>
            <p:cNvSpPr txBox="1"/>
            <p:nvPr/>
          </p:nvSpPr>
          <p:spPr>
            <a:xfrm>
              <a:off x="5371337" y="5973360"/>
              <a:ext cx="8033" cy="2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67613" y="167613"/>
              <a:ext cx="7104910" cy="6769684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-888250" y="-1730960"/>
            <a:ext cx="3465257" cy="3461919"/>
            <a:chOff x="0" y="0"/>
            <a:chExt cx="4620342" cy="4615892"/>
          </a:xfrm>
        </p:grpSpPr>
        <p:sp>
          <p:nvSpPr>
            <p:cNvPr id="8" name="TextBox 8"/>
            <p:cNvSpPr txBox="1"/>
            <p:nvPr/>
          </p:nvSpPr>
          <p:spPr>
            <a:xfrm>
              <a:off x="2833163" y="1898369"/>
              <a:ext cx="8328" cy="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4620342" cy="4615892"/>
            </a:xfrm>
            <a:custGeom>
              <a:avLst/>
              <a:gdLst/>
              <a:ahLst/>
              <a:cxnLst/>
              <a:rect l="l" t="t" r="r" b="b"/>
              <a:pathLst>
                <a:path w="4620342" h="4615892">
                  <a:moveTo>
                    <a:pt x="0" y="0"/>
                  </a:moveTo>
                  <a:lnTo>
                    <a:pt x="4620342" y="0"/>
                  </a:lnTo>
                  <a:lnTo>
                    <a:pt x="4620342" y="4615892"/>
                  </a:lnTo>
                  <a:lnTo>
                    <a:pt x="0" y="461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19075" y="4203637"/>
            <a:ext cx="9367193" cy="9351844"/>
            <a:chOff x="0" y="0"/>
            <a:chExt cx="12489590" cy="12469125"/>
          </a:xfrm>
        </p:grpSpPr>
        <p:sp>
          <p:nvSpPr>
            <p:cNvPr id="11" name="TextBox 11"/>
            <p:cNvSpPr txBox="1"/>
            <p:nvPr/>
          </p:nvSpPr>
          <p:spPr>
            <a:xfrm>
              <a:off x="6543824" y="4992302"/>
              <a:ext cx="25767" cy="2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"/>
                </a:lnSpc>
                <a:spcBef>
                  <a:spcPct val="0"/>
                </a:spcBef>
              </a:pPr>
              <a:r>
                <a:rPr lang="en-US" sz="13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12489590" cy="12469125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5400000">
            <a:off x="-2315371" y="5905109"/>
            <a:ext cx="5954141" cy="5948899"/>
            <a:chOff x="0" y="0"/>
            <a:chExt cx="7938855" cy="7931866"/>
          </a:xfrm>
        </p:grpSpPr>
        <p:sp>
          <p:nvSpPr>
            <p:cNvPr id="16" name="TextBox 16"/>
            <p:cNvSpPr txBox="1"/>
            <p:nvPr/>
          </p:nvSpPr>
          <p:spPr>
            <a:xfrm>
              <a:off x="4223762" y="3941390"/>
              <a:ext cx="14964" cy="24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938855" cy="7931866"/>
            </a:xfrm>
            <a:custGeom>
              <a:avLst/>
              <a:gdLst/>
              <a:ahLst/>
              <a:cxnLst/>
              <a:rect l="l" t="t" r="r" b="b"/>
              <a:pathLst>
                <a:path w="7938855" h="7931866">
                  <a:moveTo>
                    <a:pt x="0" y="0"/>
                  </a:moveTo>
                  <a:lnTo>
                    <a:pt x="7938855" y="0"/>
                  </a:lnTo>
                  <a:lnTo>
                    <a:pt x="7938855" y="7931866"/>
                  </a:lnTo>
                  <a:lnTo>
                    <a:pt x="0" y="7931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94822" y="8584711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2104968" y="370652"/>
            <a:ext cx="3091464" cy="3083650"/>
            <a:chOff x="0" y="0"/>
            <a:chExt cx="4121952" cy="4111533"/>
          </a:xfrm>
        </p:grpSpPr>
        <p:sp>
          <p:nvSpPr>
            <p:cNvPr id="22" name="TextBox 22"/>
            <p:cNvSpPr txBox="1"/>
            <p:nvPr/>
          </p:nvSpPr>
          <p:spPr>
            <a:xfrm>
              <a:off x="3198831" y="2055766"/>
              <a:ext cx="22294" cy="22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"/>
                </a:lnSpc>
                <a:spcBef>
                  <a:spcPct val="0"/>
                </a:spcBef>
              </a:pPr>
              <a:r>
                <a:rPr lang="en-US" sz="11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4121952" cy="4111533"/>
            </a:xfrm>
            <a:custGeom>
              <a:avLst/>
              <a:gdLst/>
              <a:ahLst/>
              <a:cxnLst/>
              <a:rect l="l" t="t" r="r" b="b"/>
              <a:pathLst>
                <a:path w="4121952" h="4111533">
                  <a:moveTo>
                    <a:pt x="0" y="0"/>
                  </a:moveTo>
                  <a:lnTo>
                    <a:pt x="4121952" y="0"/>
                  </a:lnTo>
                  <a:lnTo>
                    <a:pt x="4121952" y="4111533"/>
                  </a:lnTo>
                  <a:lnTo>
                    <a:pt x="0" y="4111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19831" y="87985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608828" y="2122042"/>
            <a:ext cx="5941096" cy="6253104"/>
            <a:chOff x="0" y="0"/>
            <a:chExt cx="1709580" cy="17993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09580" cy="1799362"/>
            </a:xfrm>
            <a:custGeom>
              <a:avLst/>
              <a:gdLst/>
              <a:ahLst/>
              <a:cxnLst/>
              <a:rect l="l" t="t" r="r" b="b"/>
              <a:pathLst>
                <a:path w="1709580" h="1799362">
                  <a:moveTo>
                    <a:pt x="39093" y="0"/>
                  </a:moveTo>
                  <a:lnTo>
                    <a:pt x="1670487" y="0"/>
                  </a:lnTo>
                  <a:cubicBezTo>
                    <a:pt x="1692077" y="0"/>
                    <a:pt x="1709580" y="17503"/>
                    <a:pt x="1709580" y="39093"/>
                  </a:cubicBezTo>
                  <a:lnTo>
                    <a:pt x="1709580" y="1760268"/>
                  </a:lnTo>
                  <a:cubicBezTo>
                    <a:pt x="1709580" y="1770636"/>
                    <a:pt x="1705461" y="1780580"/>
                    <a:pt x="1698130" y="1787911"/>
                  </a:cubicBezTo>
                  <a:cubicBezTo>
                    <a:pt x="1690798" y="1795243"/>
                    <a:pt x="1680855" y="1799362"/>
                    <a:pt x="1670487" y="1799362"/>
                  </a:cubicBezTo>
                  <a:lnTo>
                    <a:pt x="39093" y="1799362"/>
                  </a:lnTo>
                  <a:cubicBezTo>
                    <a:pt x="28725" y="1799362"/>
                    <a:pt x="18782" y="1795243"/>
                    <a:pt x="11450" y="1787911"/>
                  </a:cubicBezTo>
                  <a:cubicBezTo>
                    <a:pt x="4119" y="1780580"/>
                    <a:pt x="0" y="1770636"/>
                    <a:pt x="0" y="1760268"/>
                  </a:cubicBezTo>
                  <a:lnTo>
                    <a:pt x="0" y="39093"/>
                  </a:lnTo>
                  <a:cubicBezTo>
                    <a:pt x="0" y="28725"/>
                    <a:pt x="4119" y="18782"/>
                    <a:pt x="11450" y="11450"/>
                  </a:cubicBezTo>
                  <a:cubicBezTo>
                    <a:pt x="18782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137D4C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85725"/>
              <a:ext cx="1709580" cy="1713637"/>
            </a:xfrm>
            <a:prstGeom prst="rect">
              <a:avLst/>
            </a:prstGeom>
          </p:spPr>
          <p:txBody>
            <a:bodyPr lIns="46496" tIns="46496" rIns="46496" bIns="46496" rtlCol="0" anchor="ctr"/>
            <a:lstStyle/>
            <a:p>
              <a:pPr algn="ctr">
                <a:lnSpc>
                  <a:spcPts val="169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56956" y="1050438"/>
            <a:ext cx="14174088" cy="86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BATASAN MASALAH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34916" y="3454302"/>
            <a:ext cx="5430449" cy="331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1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Seminar Nasional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cakupan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presenter, audience,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Proses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tiket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bukti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pemindaian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berkamera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scanner</a:t>
            </a:r>
            <a:endParaRPr lang="en-US" sz="2000" b="1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9144000" y="2138007"/>
            <a:ext cx="7475831" cy="6253104"/>
            <a:chOff x="0" y="0"/>
            <a:chExt cx="2151208" cy="179936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51208" cy="1799362"/>
            </a:xfrm>
            <a:custGeom>
              <a:avLst/>
              <a:gdLst/>
              <a:ahLst/>
              <a:cxnLst/>
              <a:rect l="l" t="t" r="r" b="b"/>
              <a:pathLst>
                <a:path w="2151208" h="1799362">
                  <a:moveTo>
                    <a:pt x="31068" y="0"/>
                  </a:moveTo>
                  <a:lnTo>
                    <a:pt x="2120140" y="0"/>
                  </a:lnTo>
                  <a:cubicBezTo>
                    <a:pt x="2128380" y="0"/>
                    <a:pt x="2136282" y="3273"/>
                    <a:pt x="2142108" y="9100"/>
                  </a:cubicBezTo>
                  <a:cubicBezTo>
                    <a:pt x="2147934" y="14926"/>
                    <a:pt x="2151208" y="22828"/>
                    <a:pt x="2151208" y="31068"/>
                  </a:cubicBezTo>
                  <a:lnTo>
                    <a:pt x="2151208" y="1768294"/>
                  </a:lnTo>
                  <a:cubicBezTo>
                    <a:pt x="2151208" y="1776534"/>
                    <a:pt x="2147934" y="1784436"/>
                    <a:pt x="2142108" y="1790262"/>
                  </a:cubicBezTo>
                  <a:cubicBezTo>
                    <a:pt x="2136282" y="1796088"/>
                    <a:pt x="2128380" y="1799362"/>
                    <a:pt x="2120140" y="1799362"/>
                  </a:cubicBezTo>
                  <a:lnTo>
                    <a:pt x="31068" y="1799362"/>
                  </a:lnTo>
                  <a:cubicBezTo>
                    <a:pt x="22828" y="1799362"/>
                    <a:pt x="14926" y="1796088"/>
                    <a:pt x="9100" y="1790262"/>
                  </a:cubicBezTo>
                  <a:cubicBezTo>
                    <a:pt x="3273" y="1784436"/>
                    <a:pt x="0" y="1776534"/>
                    <a:pt x="0" y="1768294"/>
                  </a:cubicBezTo>
                  <a:lnTo>
                    <a:pt x="0" y="31068"/>
                  </a:lnTo>
                  <a:cubicBezTo>
                    <a:pt x="0" y="22828"/>
                    <a:pt x="3273" y="14926"/>
                    <a:pt x="9100" y="9100"/>
                  </a:cubicBezTo>
                  <a:cubicBezTo>
                    <a:pt x="14926" y="3273"/>
                    <a:pt x="22828" y="0"/>
                    <a:pt x="31068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137D4C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85725"/>
              <a:ext cx="2151208" cy="1713637"/>
            </a:xfrm>
            <a:prstGeom prst="rect">
              <a:avLst/>
            </a:prstGeom>
          </p:spPr>
          <p:txBody>
            <a:bodyPr lIns="46496" tIns="46496" rIns="46496" bIns="46496" rtlCol="0" anchor="ctr"/>
            <a:lstStyle/>
            <a:p>
              <a:pPr algn="ctr">
                <a:lnSpc>
                  <a:spcPts val="1696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00060" y="3349234"/>
            <a:ext cx="6724716" cy="332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just">
              <a:lnSpc>
                <a:spcPts val="2930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berfokus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sertifikat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ketiga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CodeIgniter 4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Model-View-Controller (MVC)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data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terhubung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difokuskan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perlindungan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pencegahan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CSRF dan SQL Injection.</a:t>
            </a:r>
            <a:endParaRPr lang="en-US" sz="2000" b="1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955" y="23517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4545210" y="-2429164"/>
            <a:ext cx="5077263" cy="5328682"/>
            <a:chOff x="0" y="0"/>
            <a:chExt cx="6769684" cy="7104910"/>
          </a:xfrm>
        </p:grpSpPr>
        <p:sp>
          <p:nvSpPr>
            <p:cNvPr id="4" name="TextBox 4"/>
            <p:cNvSpPr txBox="1"/>
            <p:nvPr/>
          </p:nvSpPr>
          <p:spPr>
            <a:xfrm>
              <a:off x="5371337" y="5973360"/>
              <a:ext cx="8033" cy="2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67613" y="167613"/>
              <a:ext cx="7104910" cy="6769684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-888250" y="-1730960"/>
            <a:ext cx="3465257" cy="3461919"/>
            <a:chOff x="0" y="0"/>
            <a:chExt cx="4620342" cy="4615892"/>
          </a:xfrm>
        </p:grpSpPr>
        <p:sp>
          <p:nvSpPr>
            <p:cNvPr id="8" name="TextBox 8"/>
            <p:cNvSpPr txBox="1"/>
            <p:nvPr/>
          </p:nvSpPr>
          <p:spPr>
            <a:xfrm>
              <a:off x="2833163" y="1898369"/>
              <a:ext cx="8328" cy="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4620342" cy="4615892"/>
            </a:xfrm>
            <a:custGeom>
              <a:avLst/>
              <a:gdLst/>
              <a:ahLst/>
              <a:cxnLst/>
              <a:rect l="l" t="t" r="r" b="b"/>
              <a:pathLst>
                <a:path w="4620342" h="4615892">
                  <a:moveTo>
                    <a:pt x="0" y="0"/>
                  </a:moveTo>
                  <a:lnTo>
                    <a:pt x="4620342" y="0"/>
                  </a:lnTo>
                  <a:lnTo>
                    <a:pt x="4620342" y="4615892"/>
                  </a:lnTo>
                  <a:lnTo>
                    <a:pt x="0" y="461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19075" y="4203637"/>
            <a:ext cx="9367193" cy="9351844"/>
            <a:chOff x="0" y="0"/>
            <a:chExt cx="12489590" cy="12469125"/>
          </a:xfrm>
        </p:grpSpPr>
        <p:sp>
          <p:nvSpPr>
            <p:cNvPr id="11" name="TextBox 11"/>
            <p:cNvSpPr txBox="1"/>
            <p:nvPr/>
          </p:nvSpPr>
          <p:spPr>
            <a:xfrm>
              <a:off x="6543824" y="4992302"/>
              <a:ext cx="25767" cy="2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"/>
                </a:lnSpc>
                <a:spcBef>
                  <a:spcPct val="0"/>
                </a:spcBef>
              </a:pPr>
              <a:r>
                <a:rPr lang="en-US" sz="13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12489590" cy="12469125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5400000">
            <a:off x="-2315371" y="5905109"/>
            <a:ext cx="5954141" cy="5948899"/>
            <a:chOff x="0" y="0"/>
            <a:chExt cx="7938855" cy="7931866"/>
          </a:xfrm>
        </p:grpSpPr>
        <p:sp>
          <p:nvSpPr>
            <p:cNvPr id="16" name="TextBox 16"/>
            <p:cNvSpPr txBox="1"/>
            <p:nvPr/>
          </p:nvSpPr>
          <p:spPr>
            <a:xfrm>
              <a:off x="4223762" y="3941390"/>
              <a:ext cx="14964" cy="24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938855" cy="7931866"/>
            </a:xfrm>
            <a:custGeom>
              <a:avLst/>
              <a:gdLst/>
              <a:ahLst/>
              <a:cxnLst/>
              <a:rect l="l" t="t" r="r" b="b"/>
              <a:pathLst>
                <a:path w="7938855" h="7931866">
                  <a:moveTo>
                    <a:pt x="0" y="0"/>
                  </a:moveTo>
                  <a:lnTo>
                    <a:pt x="7938855" y="0"/>
                  </a:lnTo>
                  <a:lnTo>
                    <a:pt x="7938855" y="7931866"/>
                  </a:lnTo>
                  <a:lnTo>
                    <a:pt x="0" y="7931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94822" y="8584711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2104968" y="370652"/>
            <a:ext cx="3091464" cy="3083650"/>
            <a:chOff x="0" y="0"/>
            <a:chExt cx="4121952" cy="4111533"/>
          </a:xfrm>
        </p:grpSpPr>
        <p:sp>
          <p:nvSpPr>
            <p:cNvPr id="22" name="TextBox 22"/>
            <p:cNvSpPr txBox="1"/>
            <p:nvPr/>
          </p:nvSpPr>
          <p:spPr>
            <a:xfrm>
              <a:off x="3198831" y="2055766"/>
              <a:ext cx="22294" cy="22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"/>
                </a:lnSpc>
                <a:spcBef>
                  <a:spcPct val="0"/>
                </a:spcBef>
              </a:pPr>
              <a:r>
                <a:rPr lang="en-US" sz="11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4121952" cy="4111533"/>
            </a:xfrm>
            <a:custGeom>
              <a:avLst/>
              <a:gdLst/>
              <a:ahLst/>
              <a:cxnLst/>
              <a:rect l="l" t="t" r="r" b="b"/>
              <a:pathLst>
                <a:path w="4121952" h="4111533">
                  <a:moveTo>
                    <a:pt x="0" y="0"/>
                  </a:moveTo>
                  <a:lnTo>
                    <a:pt x="4121952" y="0"/>
                  </a:lnTo>
                  <a:lnTo>
                    <a:pt x="4121952" y="4111533"/>
                  </a:lnTo>
                  <a:lnTo>
                    <a:pt x="0" y="4111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19831" y="87985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591145" y="2727740"/>
            <a:ext cx="6861668" cy="6253104"/>
            <a:chOff x="0" y="0"/>
            <a:chExt cx="1709580" cy="17993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09580" cy="1799362"/>
            </a:xfrm>
            <a:custGeom>
              <a:avLst/>
              <a:gdLst/>
              <a:ahLst/>
              <a:cxnLst/>
              <a:rect l="l" t="t" r="r" b="b"/>
              <a:pathLst>
                <a:path w="1709580" h="1799362">
                  <a:moveTo>
                    <a:pt x="39093" y="0"/>
                  </a:moveTo>
                  <a:lnTo>
                    <a:pt x="1670487" y="0"/>
                  </a:lnTo>
                  <a:cubicBezTo>
                    <a:pt x="1692077" y="0"/>
                    <a:pt x="1709580" y="17503"/>
                    <a:pt x="1709580" y="39093"/>
                  </a:cubicBezTo>
                  <a:lnTo>
                    <a:pt x="1709580" y="1760268"/>
                  </a:lnTo>
                  <a:cubicBezTo>
                    <a:pt x="1709580" y="1770636"/>
                    <a:pt x="1705461" y="1780580"/>
                    <a:pt x="1698130" y="1787911"/>
                  </a:cubicBezTo>
                  <a:cubicBezTo>
                    <a:pt x="1690798" y="1795243"/>
                    <a:pt x="1680855" y="1799362"/>
                    <a:pt x="1670487" y="1799362"/>
                  </a:cubicBezTo>
                  <a:lnTo>
                    <a:pt x="39093" y="1799362"/>
                  </a:lnTo>
                  <a:cubicBezTo>
                    <a:pt x="28725" y="1799362"/>
                    <a:pt x="18782" y="1795243"/>
                    <a:pt x="11450" y="1787911"/>
                  </a:cubicBezTo>
                  <a:cubicBezTo>
                    <a:pt x="4119" y="1780580"/>
                    <a:pt x="0" y="1770636"/>
                    <a:pt x="0" y="1760268"/>
                  </a:cubicBezTo>
                  <a:lnTo>
                    <a:pt x="0" y="39093"/>
                  </a:lnTo>
                  <a:cubicBezTo>
                    <a:pt x="0" y="28725"/>
                    <a:pt x="4119" y="18782"/>
                    <a:pt x="11450" y="11450"/>
                  </a:cubicBezTo>
                  <a:cubicBezTo>
                    <a:pt x="18782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AFAFA"/>
            </a:solidFill>
            <a:ln w="28575" cap="rnd">
              <a:solidFill>
                <a:srgbClr val="137D4C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85725"/>
              <a:ext cx="1709580" cy="1713637"/>
            </a:xfrm>
            <a:prstGeom prst="rect">
              <a:avLst/>
            </a:prstGeom>
          </p:spPr>
          <p:txBody>
            <a:bodyPr lIns="46496" tIns="46496" rIns="46496" bIns="46496" rtlCol="0" anchor="ctr"/>
            <a:lstStyle/>
            <a:p>
              <a:pPr algn="ctr">
                <a:lnSpc>
                  <a:spcPts val="169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56956" y="1050438"/>
            <a:ext cx="14174088" cy="86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METODOLOGI PERANCANGAN SISTEM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67554" y="3216597"/>
            <a:ext cx="5430449" cy="5168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1"/>
              </a:lnSpc>
            </a:pP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proses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pengembangan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agar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langkah-langkah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dilakukan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berurutan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sesuai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tujuan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penelitian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Tahapan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metodologi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penelitian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digunakan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pengembangan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Administrasi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Manajemen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Absensi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QR Code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Seminar Nasional </a:t>
            </a:r>
            <a:r>
              <a:rPr lang="en-ID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Informatika</a:t>
            </a:r>
            <a:endParaRPr lang="en-US" sz="2400" b="1" dirty="0">
              <a:solidFill>
                <a:srgbClr val="46464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Studi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Literatur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Analisis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Kebutuhan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Perancangan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Sistem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Pengembangan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Sistem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Pengujian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Sistem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Implementasi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  <a:p>
            <a:pPr marL="342900" indent="-342900" algn="just">
              <a:lnSpc>
                <a:spcPts val="2931"/>
              </a:lnSpc>
              <a:buAutoNum type="alphaUcPeriod"/>
            </a:pP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Evaluasi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dan </a:t>
            </a:r>
            <a:r>
              <a:rPr lang="en-US" sz="2400" dirty="0" err="1">
                <a:solidFill>
                  <a:srgbClr val="464646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Dokumentasi</a:t>
            </a:r>
            <a:endParaRPr lang="en-US" sz="2400" dirty="0">
              <a:solidFill>
                <a:srgbClr val="464646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29004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748327" y="7671109"/>
            <a:ext cx="3497967" cy="3671182"/>
            <a:chOff x="0" y="0"/>
            <a:chExt cx="4663956" cy="4894909"/>
          </a:xfrm>
        </p:grpSpPr>
        <p:sp>
          <p:nvSpPr>
            <p:cNvPr id="4" name="TextBox 4"/>
            <p:cNvSpPr txBox="1"/>
            <p:nvPr/>
          </p:nvSpPr>
          <p:spPr>
            <a:xfrm>
              <a:off x="3700569" y="4121893"/>
              <a:ext cx="5534" cy="12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15477" y="115477"/>
              <a:ext cx="4894909" cy="4663956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 rot="-10800000">
            <a:off x="15196758" y="8226445"/>
            <a:ext cx="4125084" cy="4121111"/>
            <a:chOff x="0" y="0"/>
            <a:chExt cx="5500111" cy="5494814"/>
          </a:xfrm>
        </p:grpSpPr>
        <p:sp>
          <p:nvSpPr>
            <p:cNvPr id="8" name="TextBox 8"/>
            <p:cNvSpPr txBox="1"/>
            <p:nvPr/>
          </p:nvSpPr>
          <p:spPr>
            <a:xfrm>
              <a:off x="3372632" y="2259841"/>
              <a:ext cx="9914" cy="10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500111" cy="5494814"/>
            </a:xfrm>
            <a:custGeom>
              <a:avLst/>
              <a:gdLst/>
              <a:ahLst/>
              <a:cxnLst/>
              <a:rect l="l" t="t" r="r" b="b"/>
              <a:pathLst>
                <a:path w="5500111" h="5494814">
                  <a:moveTo>
                    <a:pt x="0" y="0"/>
                  </a:moveTo>
                  <a:lnTo>
                    <a:pt x="5500111" y="0"/>
                  </a:lnTo>
                  <a:lnTo>
                    <a:pt x="5500111" y="5494814"/>
                  </a:lnTo>
                  <a:lnTo>
                    <a:pt x="0" y="5494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72565" y="8752435"/>
            <a:ext cx="2757567" cy="2753048"/>
            <a:chOff x="0" y="0"/>
            <a:chExt cx="3676756" cy="3670731"/>
          </a:xfrm>
        </p:grpSpPr>
        <p:sp>
          <p:nvSpPr>
            <p:cNvPr id="11" name="TextBox 11"/>
            <p:cNvSpPr txBox="1"/>
            <p:nvPr/>
          </p:nvSpPr>
          <p:spPr>
            <a:xfrm>
              <a:off x="1926407" y="1469662"/>
              <a:ext cx="7585" cy="7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3676756" cy="3670731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-10800000">
            <a:off x="12608442" y="7700962"/>
            <a:ext cx="5176633" cy="5172075"/>
            <a:chOff x="0" y="0"/>
            <a:chExt cx="6902177" cy="6896101"/>
          </a:xfrm>
        </p:grpSpPr>
        <p:sp>
          <p:nvSpPr>
            <p:cNvPr id="16" name="TextBox 16"/>
            <p:cNvSpPr txBox="1"/>
            <p:nvPr/>
          </p:nvSpPr>
          <p:spPr>
            <a:xfrm>
              <a:off x="3672212" y="3434994"/>
              <a:ext cx="13010" cy="13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5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902177" cy="6896101"/>
            </a:xfrm>
            <a:custGeom>
              <a:avLst/>
              <a:gdLst/>
              <a:ahLst/>
              <a:cxnLst/>
              <a:rect l="l" t="t" r="r" b="b"/>
              <a:pathLst>
                <a:path w="6902177" h="6896101">
                  <a:moveTo>
                    <a:pt x="0" y="0"/>
                  </a:moveTo>
                  <a:lnTo>
                    <a:pt x="6902177" y="0"/>
                  </a:lnTo>
                  <a:lnTo>
                    <a:pt x="6902177" y="6896101"/>
                  </a:lnTo>
                  <a:lnTo>
                    <a:pt x="0" y="689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6402778" y="0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1289102" y="9258300"/>
            <a:ext cx="1598379" cy="1594339"/>
            <a:chOff x="0" y="0"/>
            <a:chExt cx="2131172" cy="2125785"/>
          </a:xfrm>
        </p:grpSpPr>
        <p:sp>
          <p:nvSpPr>
            <p:cNvPr id="22" name="TextBox 22"/>
            <p:cNvSpPr txBox="1"/>
            <p:nvPr/>
          </p:nvSpPr>
          <p:spPr>
            <a:xfrm>
              <a:off x="1653891" y="1062892"/>
              <a:ext cx="11526" cy="11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2131172" cy="2125785"/>
            </a:xfrm>
            <a:custGeom>
              <a:avLst/>
              <a:gdLst/>
              <a:ahLst/>
              <a:cxnLst/>
              <a:rect l="l" t="t" r="r" b="b"/>
              <a:pathLst>
                <a:path w="2131172" h="2125785">
                  <a:moveTo>
                    <a:pt x="0" y="0"/>
                  </a:moveTo>
                  <a:lnTo>
                    <a:pt x="2131172" y="0"/>
                  </a:lnTo>
                  <a:lnTo>
                    <a:pt x="2131172" y="2125785"/>
                  </a:lnTo>
                  <a:lnTo>
                    <a:pt x="0" y="2125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619831" y="119601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9102" y="1009650"/>
            <a:ext cx="12884098" cy="867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ENTITY DIAGRAMS RELATIONSHIP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EA6474-6FE7-4FC7-8D7D-A933A2335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81065"/>
            <a:ext cx="9213204" cy="694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2120" y="643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15027764" y="-1306647"/>
            <a:ext cx="5077263" cy="5328682"/>
            <a:chOff x="0" y="0"/>
            <a:chExt cx="6769684" cy="7104910"/>
          </a:xfrm>
        </p:grpSpPr>
        <p:sp>
          <p:nvSpPr>
            <p:cNvPr id="4" name="TextBox 4"/>
            <p:cNvSpPr txBox="1"/>
            <p:nvPr/>
          </p:nvSpPr>
          <p:spPr>
            <a:xfrm>
              <a:off x="5371337" y="5973360"/>
              <a:ext cx="8033" cy="2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67613" y="167613"/>
              <a:ext cx="7104910" cy="6769684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-3059742" y="0"/>
            <a:ext cx="3465257" cy="3461919"/>
            <a:chOff x="0" y="0"/>
            <a:chExt cx="4620342" cy="4615892"/>
          </a:xfrm>
        </p:grpSpPr>
        <p:sp>
          <p:nvSpPr>
            <p:cNvPr id="8" name="TextBox 8"/>
            <p:cNvSpPr txBox="1"/>
            <p:nvPr/>
          </p:nvSpPr>
          <p:spPr>
            <a:xfrm>
              <a:off x="2833163" y="1898369"/>
              <a:ext cx="8328" cy="8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4620342" cy="4615892"/>
            </a:xfrm>
            <a:custGeom>
              <a:avLst/>
              <a:gdLst/>
              <a:ahLst/>
              <a:cxnLst/>
              <a:rect l="l" t="t" r="r" b="b"/>
              <a:pathLst>
                <a:path w="4620342" h="4615892">
                  <a:moveTo>
                    <a:pt x="0" y="0"/>
                  </a:moveTo>
                  <a:lnTo>
                    <a:pt x="4620342" y="0"/>
                  </a:lnTo>
                  <a:lnTo>
                    <a:pt x="4620342" y="4615892"/>
                  </a:lnTo>
                  <a:lnTo>
                    <a:pt x="0" y="461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96572" y="7459056"/>
            <a:ext cx="4339646" cy="4332535"/>
            <a:chOff x="0" y="0"/>
            <a:chExt cx="5786194" cy="5776713"/>
          </a:xfrm>
        </p:grpSpPr>
        <p:sp>
          <p:nvSpPr>
            <p:cNvPr id="11" name="TextBox 11"/>
            <p:cNvSpPr txBox="1"/>
            <p:nvPr/>
          </p:nvSpPr>
          <p:spPr>
            <a:xfrm>
              <a:off x="3031631" y="2312841"/>
              <a:ext cx="11937" cy="12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5786194" cy="5776713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5400000">
            <a:off x="12680186" y="5864947"/>
            <a:ext cx="8851901" cy="8844108"/>
            <a:chOff x="0" y="0"/>
            <a:chExt cx="11802535" cy="11792144"/>
          </a:xfrm>
        </p:grpSpPr>
        <p:sp>
          <p:nvSpPr>
            <p:cNvPr id="16" name="TextBox 16"/>
            <p:cNvSpPr txBox="1"/>
            <p:nvPr/>
          </p:nvSpPr>
          <p:spPr>
            <a:xfrm>
              <a:off x="6279382" y="5873746"/>
              <a:ext cx="22247" cy="223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"/>
                </a:lnSpc>
                <a:spcBef>
                  <a:spcPct val="0"/>
                </a:spcBef>
              </a:pPr>
              <a:r>
                <a:rPr lang="en-US" sz="116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1802535" cy="11792144"/>
            </a:xfrm>
            <a:custGeom>
              <a:avLst/>
              <a:gdLst/>
              <a:ahLst/>
              <a:cxnLst/>
              <a:rect l="l" t="t" r="r" b="b"/>
              <a:pathLst>
                <a:path w="11802535" h="11792144">
                  <a:moveTo>
                    <a:pt x="0" y="0"/>
                  </a:moveTo>
                  <a:lnTo>
                    <a:pt x="11802535" y="0"/>
                  </a:lnTo>
                  <a:lnTo>
                    <a:pt x="11802535" y="11792144"/>
                  </a:lnTo>
                  <a:lnTo>
                    <a:pt x="0" y="11792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68642" y="8951734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314135" y="8330059"/>
            <a:ext cx="3091464" cy="3083650"/>
            <a:chOff x="0" y="0"/>
            <a:chExt cx="4121952" cy="4111533"/>
          </a:xfrm>
        </p:grpSpPr>
        <p:sp>
          <p:nvSpPr>
            <p:cNvPr id="22" name="TextBox 22"/>
            <p:cNvSpPr txBox="1"/>
            <p:nvPr/>
          </p:nvSpPr>
          <p:spPr>
            <a:xfrm>
              <a:off x="3198831" y="2055766"/>
              <a:ext cx="22294" cy="22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"/>
                </a:lnSpc>
                <a:spcBef>
                  <a:spcPct val="0"/>
                </a:spcBef>
              </a:pPr>
              <a:r>
                <a:rPr lang="en-US" sz="115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4121952" cy="4111533"/>
            </a:xfrm>
            <a:custGeom>
              <a:avLst/>
              <a:gdLst/>
              <a:ahLst/>
              <a:cxnLst/>
              <a:rect l="l" t="t" r="r" b="b"/>
              <a:pathLst>
                <a:path w="4121952" h="4111533">
                  <a:moveTo>
                    <a:pt x="0" y="0"/>
                  </a:moveTo>
                  <a:lnTo>
                    <a:pt x="4121952" y="0"/>
                  </a:lnTo>
                  <a:lnTo>
                    <a:pt x="4121952" y="4111533"/>
                  </a:lnTo>
                  <a:lnTo>
                    <a:pt x="0" y="4111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19831" y="879855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57400" y="717138"/>
            <a:ext cx="12526289" cy="77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PERANCANGAN PENGEMBANGAN SISTEM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52600" y="1242086"/>
            <a:ext cx="4904724" cy="785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endParaRPr lang="en-US" sz="2437" b="1" dirty="0">
              <a:solidFill>
                <a:srgbClr val="030303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061"/>
              </a:lnSpc>
            </a:pPr>
            <a:endParaRPr lang="en-US" sz="2437" b="1" dirty="0">
              <a:solidFill>
                <a:srgbClr val="030303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34339" y="2366794"/>
            <a:ext cx="6718550" cy="754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5"/>
              </a:lnSpc>
            </a:pPr>
            <a:endParaRPr lang="en-ID" sz="2000" dirty="0"/>
          </a:p>
          <a:p>
            <a:pPr algn="l">
              <a:lnSpc>
                <a:spcPts val="3125"/>
              </a:lnSpc>
            </a:pPr>
            <a:endParaRPr lang="en-US" sz="1937" b="1" dirty="0">
              <a:solidFill>
                <a:srgbClr val="464646"/>
              </a:solidFill>
              <a:latin typeface="Inter Bold"/>
              <a:ea typeface="Inter Bold"/>
              <a:cs typeface="Inter Medium"/>
              <a:sym typeface="Inter Bold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9F83D05A-5207-47B4-9B07-DCA18879D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F41055BF-8296-4518-95F4-FAB3E2043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9AA8DFC-C97A-4C3B-A371-DEAA962D3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0316" y="1839016"/>
            <a:ext cx="8143875" cy="7143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 dirty="0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12532208" y="7043869"/>
            <a:ext cx="5077263" cy="5328682"/>
            <a:chOff x="0" y="0"/>
            <a:chExt cx="6769684" cy="7104910"/>
          </a:xfrm>
        </p:grpSpPr>
        <p:sp>
          <p:nvSpPr>
            <p:cNvPr id="4" name="TextBox 4"/>
            <p:cNvSpPr txBox="1"/>
            <p:nvPr/>
          </p:nvSpPr>
          <p:spPr>
            <a:xfrm>
              <a:off x="5371337" y="5973360"/>
              <a:ext cx="8033" cy="2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167613" y="167613"/>
              <a:ext cx="7104910" cy="6769684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 rot="5400000">
            <a:off x="-502840" y="8405272"/>
            <a:ext cx="2365247" cy="2362969"/>
            <a:chOff x="0" y="0"/>
            <a:chExt cx="3153662" cy="3150625"/>
          </a:xfrm>
        </p:grpSpPr>
        <p:sp>
          <p:nvSpPr>
            <p:cNvPr id="8" name="TextBox 8"/>
            <p:cNvSpPr txBox="1"/>
            <p:nvPr/>
          </p:nvSpPr>
          <p:spPr>
            <a:xfrm>
              <a:off x="1933805" y="1295751"/>
              <a:ext cx="5684" cy="5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153662" cy="3150625"/>
            </a:xfrm>
            <a:custGeom>
              <a:avLst/>
              <a:gdLst/>
              <a:ahLst/>
              <a:cxnLst/>
              <a:rect l="l" t="t" r="r" b="b"/>
              <a:pathLst>
                <a:path w="3153662" h="3150625">
                  <a:moveTo>
                    <a:pt x="0" y="0"/>
                  </a:moveTo>
                  <a:lnTo>
                    <a:pt x="3153662" y="0"/>
                  </a:lnTo>
                  <a:lnTo>
                    <a:pt x="3153662" y="3150625"/>
                  </a:lnTo>
                  <a:lnTo>
                    <a:pt x="0" y="3150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5395002" y="5874723"/>
            <a:ext cx="5067125" cy="5058821"/>
            <a:chOff x="0" y="0"/>
            <a:chExt cx="6756166" cy="6745095"/>
          </a:xfrm>
        </p:grpSpPr>
        <p:sp>
          <p:nvSpPr>
            <p:cNvPr id="11" name="TextBox 11"/>
            <p:cNvSpPr txBox="1"/>
            <p:nvPr/>
          </p:nvSpPr>
          <p:spPr>
            <a:xfrm>
              <a:off x="3539841" y="2691030"/>
              <a:ext cx="13939" cy="2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6756166" cy="6745095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137D4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-10800000">
            <a:off x="15070839" y="5567078"/>
            <a:ext cx="5185202" cy="5180637"/>
            <a:chOff x="0" y="0"/>
            <a:chExt cx="6913603" cy="6907516"/>
          </a:xfrm>
        </p:grpSpPr>
        <p:sp>
          <p:nvSpPr>
            <p:cNvPr id="16" name="TextBox 16"/>
            <p:cNvSpPr txBox="1"/>
            <p:nvPr/>
          </p:nvSpPr>
          <p:spPr>
            <a:xfrm>
              <a:off x="3678290" y="3440680"/>
              <a:ext cx="13032" cy="1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5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913603" cy="6907516"/>
            </a:xfrm>
            <a:custGeom>
              <a:avLst/>
              <a:gdLst/>
              <a:ahLst/>
              <a:cxnLst/>
              <a:rect l="l" t="t" r="r" b="b"/>
              <a:pathLst>
                <a:path w="6913603" h="6907516">
                  <a:moveTo>
                    <a:pt x="0" y="0"/>
                  </a:moveTo>
                  <a:lnTo>
                    <a:pt x="6913603" y="0"/>
                  </a:lnTo>
                  <a:lnTo>
                    <a:pt x="6913603" y="6907516"/>
                  </a:lnTo>
                  <a:lnTo>
                    <a:pt x="0" y="690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6506442" y="-176869"/>
            <a:ext cx="2174981" cy="1710456"/>
            <a:chOff x="0" y="0"/>
            <a:chExt cx="2899974" cy="2280609"/>
          </a:xfrm>
        </p:grpSpPr>
        <p:sp>
          <p:nvSpPr>
            <p:cNvPr id="19" name="TextBox 19"/>
            <p:cNvSpPr txBox="1"/>
            <p:nvPr/>
          </p:nvSpPr>
          <p:spPr>
            <a:xfrm>
              <a:off x="1864362" y="1988444"/>
              <a:ext cx="24044" cy="24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"/>
                </a:lnSpc>
                <a:spcBef>
                  <a:spcPct val="0"/>
                </a:spcBef>
              </a:pPr>
              <a:r>
                <a:rPr lang="en-US" sz="126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899974" cy="2280609"/>
            </a:xfrm>
            <a:custGeom>
              <a:avLst/>
              <a:gdLst/>
              <a:ahLst/>
              <a:cxnLst/>
              <a:rect l="l" t="t" r="r" b="b"/>
              <a:pathLst>
                <a:path w="2899974" h="2280609">
                  <a:moveTo>
                    <a:pt x="0" y="0"/>
                  </a:moveTo>
                  <a:lnTo>
                    <a:pt x="2899974" y="0"/>
                  </a:lnTo>
                  <a:lnTo>
                    <a:pt x="2899974" y="2280609"/>
                  </a:lnTo>
                  <a:lnTo>
                    <a:pt x="0" y="2280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16506442" y="5567078"/>
            <a:ext cx="2844245" cy="2837055"/>
            <a:chOff x="0" y="0"/>
            <a:chExt cx="3792327" cy="3782740"/>
          </a:xfrm>
        </p:grpSpPr>
        <p:sp>
          <p:nvSpPr>
            <p:cNvPr id="22" name="TextBox 22"/>
            <p:cNvSpPr txBox="1"/>
            <p:nvPr/>
          </p:nvSpPr>
          <p:spPr>
            <a:xfrm>
              <a:off x="2943026" y="1881845"/>
              <a:ext cx="20511" cy="3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9"/>
                </a:lnSpc>
                <a:spcBef>
                  <a:spcPct val="0"/>
                </a:spcBef>
              </a:pPr>
              <a:r>
                <a:rPr lang="en-US" sz="106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3792327" cy="3782740"/>
            </a:xfrm>
            <a:custGeom>
              <a:avLst/>
              <a:gdLst/>
              <a:ahLst/>
              <a:cxnLst/>
              <a:rect l="l" t="t" r="r" b="b"/>
              <a:pathLst>
                <a:path w="3792327" h="3782740">
                  <a:moveTo>
                    <a:pt x="0" y="0"/>
                  </a:moveTo>
                  <a:lnTo>
                    <a:pt x="3792327" y="0"/>
                  </a:lnTo>
                  <a:lnTo>
                    <a:pt x="3792327" y="3782740"/>
                  </a:lnTo>
                  <a:lnTo>
                    <a:pt x="0" y="378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6926927" y="1508169"/>
            <a:ext cx="4819" cy="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05400" y="649784"/>
            <a:ext cx="8839200" cy="762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1" dirty="0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KESIMPULAN DAN SARAN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9782" y="1477761"/>
            <a:ext cx="15740757" cy="7115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62"/>
              </a:lnSpc>
              <a:buFont typeface="Wingdings" panose="05000000000000000000" pitchFamily="2" charset="2"/>
              <a:buChar char="q"/>
            </a:pPr>
            <a:r>
              <a:rPr lang="en-US" sz="1937" b="1" dirty="0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Kesimpulan</a:t>
            </a:r>
          </a:p>
          <a:p>
            <a:pPr algn="just">
              <a:lnSpc>
                <a:spcPts val="3062"/>
              </a:lnSpc>
            </a:pPr>
            <a:r>
              <a:rPr lang="en-ID" sz="2000" dirty="0"/>
              <a:t>	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Administrasi</a:t>
            </a:r>
            <a:r>
              <a:rPr lang="en-ID" sz="2000" dirty="0"/>
              <a:t> dan </a:t>
            </a:r>
            <a:r>
              <a:rPr lang="en-ID" sz="2000" dirty="0" err="1"/>
              <a:t>Absensi</a:t>
            </a:r>
            <a:r>
              <a:rPr lang="en-ID" sz="2000" dirty="0"/>
              <a:t> QR Code yang </a:t>
            </a:r>
            <a:r>
              <a:rPr lang="en-ID" sz="2000" dirty="0" err="1"/>
              <a:t>dibangun</a:t>
            </a:r>
            <a:r>
              <a:rPr lang="en-ID" sz="2000" dirty="0"/>
              <a:t> </a:t>
            </a:r>
            <a:r>
              <a:rPr lang="en-ID" sz="2000" dirty="0" err="1"/>
              <a:t>berhasil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keamanan</a:t>
            </a:r>
            <a:r>
              <a:rPr lang="en-ID" sz="2000" dirty="0"/>
              <a:t> </a:t>
            </a:r>
            <a:r>
              <a:rPr lang="en-ID" sz="2000" dirty="0" err="1"/>
              <a:t>registrasi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OTP, </a:t>
            </a:r>
            <a:r>
              <a:rPr lang="en-ID" sz="2000" dirty="0" err="1"/>
              <a:t>mempercepat</a:t>
            </a:r>
            <a:r>
              <a:rPr lang="en-ID" sz="2000" dirty="0"/>
              <a:t> proses 	</a:t>
            </a:r>
            <a:r>
              <a:rPr lang="en-ID" sz="2000" dirty="0" err="1"/>
              <a:t>absensi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pencatatan</a:t>
            </a:r>
            <a:r>
              <a:rPr lang="en-ID" sz="2000" dirty="0"/>
              <a:t> </a:t>
            </a:r>
            <a:r>
              <a:rPr lang="en-ID" sz="2000" dirty="0" err="1"/>
              <a:t>otomatis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QR Code,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mengelola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LOA dan </a:t>
            </a:r>
            <a:r>
              <a:rPr lang="en-ID" sz="2000" dirty="0" err="1"/>
              <a:t>sertifikat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terstruktur</a:t>
            </a:r>
            <a:r>
              <a:rPr lang="en-ID" sz="2000" dirty="0"/>
              <a:t>. </a:t>
            </a:r>
            <a:r>
              <a:rPr lang="en-ID" sz="2000" dirty="0" err="1"/>
              <a:t>Pengelolaan</a:t>
            </a:r>
            <a:r>
              <a:rPr lang="en-ID" sz="2000" dirty="0"/>
              <a:t> 	event </a:t>
            </a:r>
            <a:r>
              <a:rPr lang="en-ID" sz="2000" dirty="0" err="1"/>
              <a:t>berjalan</a:t>
            </a:r>
            <a:r>
              <a:rPr lang="en-ID" sz="2000" dirty="0"/>
              <a:t> </a:t>
            </a:r>
            <a:r>
              <a:rPr lang="en-ID" sz="2000" dirty="0" err="1"/>
              <a:t>lengkap</a:t>
            </a:r>
            <a:r>
              <a:rPr lang="en-ID" sz="2000" dirty="0"/>
              <a:t> </a:t>
            </a:r>
            <a:r>
              <a:rPr lang="en-ID" sz="2000" dirty="0" err="1"/>
              <a:t>mulai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pendaftaran</a:t>
            </a:r>
            <a:r>
              <a:rPr lang="en-ID" sz="2000" dirty="0"/>
              <a:t> </a:t>
            </a:r>
            <a:r>
              <a:rPr lang="en-ID" sz="2000" dirty="0" err="1"/>
              <a:t>hingga</a:t>
            </a:r>
            <a:r>
              <a:rPr lang="en-ID" sz="2000" dirty="0"/>
              <a:t> </a:t>
            </a:r>
            <a:r>
              <a:rPr lang="en-ID" sz="2000" dirty="0" err="1"/>
              <a:t>penerbitan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, </a:t>
            </a:r>
            <a:r>
              <a:rPr lang="en-ID" sz="2000" dirty="0" err="1"/>
              <a:t>didukung</a:t>
            </a:r>
            <a:r>
              <a:rPr lang="en-ID" sz="2000" dirty="0"/>
              <a:t> dashboard </a:t>
            </a:r>
            <a:r>
              <a:rPr lang="en-ID" sz="2000" dirty="0" err="1"/>
              <a:t>informatif</a:t>
            </a:r>
            <a:r>
              <a:rPr lang="en-ID" sz="2000" dirty="0"/>
              <a:t> dan </a:t>
            </a:r>
            <a:r>
              <a:rPr lang="en-ID" sz="2000" dirty="0" err="1"/>
              <a:t>modul</a:t>
            </a:r>
            <a:r>
              <a:rPr lang="en-ID" sz="2000" dirty="0"/>
              <a:t> </a:t>
            </a:r>
            <a:r>
              <a:rPr lang="en-ID" sz="2000" dirty="0" err="1"/>
              <a:t>profil</a:t>
            </a:r>
            <a:r>
              <a:rPr lang="en-ID" sz="2000" dirty="0"/>
              <a:t> yang </a:t>
            </a:r>
            <a:r>
              <a:rPr lang="en-ID" sz="2000" dirty="0" err="1"/>
              <a:t>fleksibel</a:t>
            </a:r>
            <a:r>
              <a:rPr lang="en-ID" sz="2000" dirty="0"/>
              <a:t>.</a:t>
            </a:r>
          </a:p>
          <a:p>
            <a:pPr algn="just">
              <a:lnSpc>
                <a:spcPts val="3062"/>
              </a:lnSpc>
            </a:pPr>
            <a:r>
              <a:rPr lang="en-ID" sz="2000" dirty="0"/>
              <a:t>	</a:t>
            </a:r>
            <a:r>
              <a:rPr lang="en-ID" sz="2000" dirty="0" err="1"/>
              <a:t>Seluruh</a:t>
            </a:r>
            <a:r>
              <a:rPr lang="en-ID" sz="2000" dirty="0"/>
              <a:t> </a:t>
            </a:r>
            <a:r>
              <a:rPr lang="en-ID" sz="2000" dirty="0" err="1"/>
              <a:t>fitur</a:t>
            </a:r>
            <a:r>
              <a:rPr lang="en-ID" sz="2000" dirty="0"/>
              <a:t> </a:t>
            </a:r>
            <a:r>
              <a:rPr lang="en-ID" sz="2000" dirty="0" err="1"/>
              <a:t>terintegrasi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baik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database </a:t>
            </a:r>
            <a:r>
              <a:rPr lang="en-ID" sz="2000" dirty="0" err="1"/>
              <a:t>relasional</a:t>
            </a:r>
            <a:r>
              <a:rPr lang="en-ID" sz="2000" dirty="0"/>
              <a:t>, </a:t>
            </a:r>
            <a:r>
              <a:rPr lang="en-ID" sz="2000" dirty="0" err="1"/>
              <a:t>dilengkapi</a:t>
            </a:r>
            <a:r>
              <a:rPr lang="en-ID" sz="2000" dirty="0"/>
              <a:t> </a:t>
            </a:r>
            <a:r>
              <a:rPr lang="en-ID" sz="2000" dirty="0" err="1"/>
              <a:t>validasi</a:t>
            </a:r>
            <a:r>
              <a:rPr lang="en-ID" sz="2000" dirty="0"/>
              <a:t> dan </a:t>
            </a:r>
            <a:r>
              <a:rPr lang="en-ID" sz="2000" dirty="0" err="1"/>
              <a:t>penanganan</a:t>
            </a:r>
            <a:r>
              <a:rPr lang="en-ID" sz="2000" dirty="0"/>
              <a:t> error yang </a:t>
            </a:r>
            <a:r>
              <a:rPr lang="en-ID" sz="2000" dirty="0" err="1"/>
              <a:t>memadai</a:t>
            </a:r>
            <a:r>
              <a:rPr lang="en-ID" sz="2000" dirty="0"/>
              <a:t>.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arsitektur</a:t>
            </a:r>
            <a:r>
              <a:rPr lang="en-ID" sz="2000" dirty="0"/>
              <a:t> 	MVC CodeIgniter 4,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mudah</a:t>
            </a:r>
            <a:r>
              <a:rPr lang="en-ID" sz="2000" dirty="0"/>
              <a:t> </a:t>
            </a:r>
            <a:r>
              <a:rPr lang="en-ID" sz="2000" dirty="0" err="1"/>
              <a:t>dikembangkan</a:t>
            </a:r>
            <a:r>
              <a:rPr lang="en-ID" sz="2000" dirty="0"/>
              <a:t> dan </a:t>
            </a:r>
            <a:r>
              <a:rPr lang="en-ID" sz="2000" dirty="0" err="1"/>
              <a:t>dipelihara</a:t>
            </a:r>
            <a:r>
              <a:rPr lang="en-ID" sz="2000" dirty="0"/>
              <a:t>.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keseluruhan</a:t>
            </a:r>
            <a:r>
              <a:rPr lang="en-ID" sz="2000" dirty="0"/>
              <a:t>,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efektif</a:t>
            </a:r>
            <a:r>
              <a:rPr lang="en-ID" sz="2000" dirty="0"/>
              <a:t> </a:t>
            </a:r>
            <a:r>
              <a:rPr lang="en-ID" sz="2000" dirty="0" err="1"/>
              <a:t>memenuhi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administrasi</a:t>
            </a:r>
            <a:r>
              <a:rPr lang="en-ID" sz="2000" dirty="0"/>
              <a:t> dan 	</a:t>
            </a:r>
            <a:r>
              <a:rPr lang="en-ID" sz="2000" dirty="0" err="1"/>
              <a:t>absensi</a:t>
            </a:r>
            <a:r>
              <a:rPr lang="en-ID" sz="2000" dirty="0"/>
              <a:t> seminar </a:t>
            </a:r>
            <a:r>
              <a:rPr lang="en-ID" sz="2000" dirty="0" err="1"/>
              <a:t>secara</a:t>
            </a:r>
            <a:r>
              <a:rPr lang="en-ID" sz="2000" dirty="0"/>
              <a:t> digital, </a:t>
            </a:r>
            <a:r>
              <a:rPr lang="en-ID" sz="2000" dirty="0" err="1"/>
              <a:t>cepat</a:t>
            </a:r>
            <a:r>
              <a:rPr lang="en-ID" sz="2000" dirty="0"/>
              <a:t>, dan </a:t>
            </a:r>
            <a:r>
              <a:rPr lang="en-ID" sz="2000" dirty="0" err="1"/>
              <a:t>efisien</a:t>
            </a:r>
            <a:r>
              <a:rPr lang="en-ID" sz="2000" dirty="0"/>
              <a:t>.</a:t>
            </a:r>
          </a:p>
          <a:p>
            <a:pPr marL="342900" indent="-342900" algn="just">
              <a:lnSpc>
                <a:spcPts val="3062"/>
              </a:lnSpc>
              <a:buFont typeface="Wingdings" panose="05000000000000000000" pitchFamily="2" charset="2"/>
              <a:buChar char="q"/>
            </a:pPr>
            <a:r>
              <a:rPr lang="en-ID" sz="2000" b="1" dirty="0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Saran</a:t>
            </a:r>
          </a:p>
          <a:p>
            <a:pPr algn="just">
              <a:lnSpc>
                <a:spcPts val="3062"/>
              </a:lnSpc>
            </a:pPr>
            <a:r>
              <a:rPr lang="en-ID" sz="2000" dirty="0"/>
              <a:t>	</a:t>
            </a:r>
            <a:r>
              <a:rPr lang="en-ID" sz="2000" dirty="0" err="1"/>
              <a:t>Pengembangan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ditingkatkan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menambahkan</a:t>
            </a:r>
            <a:r>
              <a:rPr lang="en-ID" sz="2000" dirty="0"/>
              <a:t> </a:t>
            </a:r>
            <a:r>
              <a:rPr lang="en-ID" sz="2000" dirty="0" err="1"/>
              <a:t>notifikasi</a:t>
            </a:r>
            <a:r>
              <a:rPr lang="en-ID" sz="2000" dirty="0"/>
              <a:t> real-time </a:t>
            </a:r>
            <a:r>
              <a:rPr lang="en-ID" sz="2000" dirty="0" err="1"/>
              <a:t>menggunakan</a:t>
            </a:r>
            <a:r>
              <a:rPr lang="en-ID" sz="2000" dirty="0"/>
              <a:t> WebSocket </a:t>
            </a:r>
            <a:r>
              <a:rPr lang="en-ID" sz="2000" dirty="0" err="1"/>
              <a:t>atau</a:t>
            </a:r>
            <a:r>
              <a:rPr lang="en-ID" sz="2000" dirty="0"/>
              <a:t> SSE agar </a:t>
            </a:r>
            <a:r>
              <a:rPr lang="en-ID" sz="2000" dirty="0" err="1"/>
              <a:t>pengguna</a:t>
            </a:r>
            <a:r>
              <a:rPr lang="en-ID" sz="2000" dirty="0"/>
              <a:t> 	</a:t>
            </a:r>
            <a:r>
              <a:rPr lang="en-ID" sz="2000" dirty="0" err="1"/>
              <a:t>mendapatkan</a:t>
            </a:r>
            <a:r>
              <a:rPr lang="en-ID" sz="2000" dirty="0"/>
              <a:t> update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me-refresh </a:t>
            </a:r>
            <a:r>
              <a:rPr lang="en-ID" sz="2000" dirty="0" err="1"/>
              <a:t>halaman</a:t>
            </a:r>
            <a:r>
              <a:rPr lang="en-ID" sz="2000" dirty="0"/>
              <a:t>. </a:t>
            </a:r>
            <a:r>
              <a:rPr lang="en-ID" sz="2000" dirty="0" err="1"/>
              <a:t>Aplikasi</a:t>
            </a:r>
            <a:r>
              <a:rPr lang="en-ID" sz="2000" dirty="0"/>
              <a:t> mobile </a:t>
            </a:r>
            <a:r>
              <a:rPr lang="en-ID" sz="2000" dirty="0" err="1"/>
              <a:t>atau</a:t>
            </a:r>
            <a:r>
              <a:rPr lang="en-ID" sz="2000" dirty="0"/>
              <a:t> PWA juga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dikembangkan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pengalaman</a:t>
            </a:r>
            <a:r>
              <a:rPr lang="en-ID" sz="2000" dirty="0"/>
              <a:t> 	</a:t>
            </a:r>
            <a:r>
              <a:rPr lang="en-ID" sz="2000" dirty="0" err="1"/>
              <a:t>penggunaan</a:t>
            </a:r>
            <a:r>
              <a:rPr lang="en-ID" sz="2000" dirty="0"/>
              <a:t>, </a:t>
            </a:r>
            <a:r>
              <a:rPr lang="en-ID" sz="2000" dirty="0" err="1"/>
              <a:t>terutama</a:t>
            </a:r>
            <a:r>
              <a:rPr lang="en-ID" sz="2000" dirty="0"/>
              <a:t> pada </a:t>
            </a:r>
            <a:r>
              <a:rPr lang="en-ID" sz="2000" dirty="0" err="1"/>
              <a:t>fitur</a:t>
            </a:r>
            <a:r>
              <a:rPr lang="en-ID" sz="2000" dirty="0"/>
              <a:t> </a:t>
            </a:r>
            <a:r>
              <a:rPr lang="en-ID" sz="2000" dirty="0" err="1"/>
              <a:t>absensi</a:t>
            </a:r>
            <a:r>
              <a:rPr lang="en-ID" sz="2000" dirty="0"/>
              <a:t> QR Code. </a:t>
            </a:r>
            <a:r>
              <a:rPr lang="en-ID" sz="2000" dirty="0" err="1"/>
              <a:t>Selain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, dashboard </a:t>
            </a:r>
            <a:r>
              <a:rPr lang="en-ID" sz="2000" dirty="0" err="1"/>
              <a:t>analitik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lengkap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disediakan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menampilkan</a:t>
            </a:r>
            <a:r>
              <a:rPr lang="en-ID" sz="2000" dirty="0"/>
              <a:t> 	</a:t>
            </a:r>
            <a:r>
              <a:rPr lang="en-ID" sz="2000" dirty="0" err="1"/>
              <a:t>statistik</a:t>
            </a:r>
            <a:r>
              <a:rPr lang="en-ID" sz="2000" dirty="0"/>
              <a:t> </a:t>
            </a:r>
            <a:r>
              <a:rPr lang="en-ID" sz="2000" dirty="0" err="1"/>
              <a:t>kehadiran</a:t>
            </a:r>
            <a:r>
              <a:rPr lang="en-ID" sz="2000" dirty="0"/>
              <a:t>, </a:t>
            </a:r>
            <a:r>
              <a:rPr lang="en-ID" sz="2000" dirty="0" err="1"/>
              <a:t>demografi</a:t>
            </a:r>
            <a:r>
              <a:rPr lang="en-ID" sz="2000" dirty="0"/>
              <a:t> </a:t>
            </a:r>
            <a:r>
              <a:rPr lang="en-ID" sz="2000" dirty="0" err="1"/>
              <a:t>peserta</a:t>
            </a:r>
            <a:r>
              <a:rPr lang="en-ID" sz="2000" dirty="0"/>
              <a:t>, dan </a:t>
            </a:r>
            <a:r>
              <a:rPr lang="en-ID" sz="2000" dirty="0" err="1"/>
              <a:t>tren</a:t>
            </a:r>
            <a:r>
              <a:rPr lang="en-ID" sz="2000" dirty="0"/>
              <a:t> </a:t>
            </a:r>
            <a:r>
              <a:rPr lang="en-ID" sz="2000" dirty="0" err="1"/>
              <a:t>pendaftaran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interaktif</a:t>
            </a:r>
            <a:r>
              <a:rPr lang="en-ID" sz="2000" dirty="0"/>
              <a:t>. Integrasi </a:t>
            </a:r>
            <a:r>
              <a:rPr lang="en-ID" sz="2000" dirty="0" err="1"/>
              <a:t>dengan</a:t>
            </a:r>
            <a:r>
              <a:rPr lang="en-ID" sz="2000" dirty="0"/>
              <a:t> payment gateway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Midtrans</a:t>
            </a:r>
            <a:r>
              <a:rPr lang="en-ID" sz="2000" dirty="0"/>
              <a:t>, </a:t>
            </a:r>
            <a:r>
              <a:rPr lang="en-ID" sz="2000" dirty="0" err="1"/>
              <a:t>Xendit</a:t>
            </a:r>
            <a:r>
              <a:rPr lang="en-ID" sz="2000" dirty="0"/>
              <a:t>, 	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Doku</a:t>
            </a:r>
            <a:r>
              <a:rPr lang="en-ID" sz="2000" dirty="0"/>
              <a:t> juga </a:t>
            </a:r>
            <a:r>
              <a:rPr lang="en-ID" sz="2000" dirty="0" err="1"/>
              <a:t>penting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memproses</a:t>
            </a:r>
            <a:r>
              <a:rPr lang="en-ID" sz="2000" dirty="0"/>
              <a:t> </a:t>
            </a:r>
            <a:r>
              <a:rPr lang="en-ID" sz="2000" dirty="0" err="1"/>
              <a:t>pembayaran</a:t>
            </a:r>
            <a:r>
              <a:rPr lang="en-ID" sz="2000" dirty="0"/>
              <a:t> </a:t>
            </a:r>
            <a:r>
              <a:rPr lang="en-ID" sz="2000" dirty="0" err="1"/>
              <a:t>otomatis</a:t>
            </a:r>
            <a:r>
              <a:rPr lang="en-ID" sz="2000" dirty="0"/>
              <a:t> dan </a:t>
            </a:r>
            <a:r>
              <a:rPr lang="en-ID" sz="2000" dirty="0" err="1"/>
              <a:t>mempercepat</a:t>
            </a:r>
            <a:r>
              <a:rPr lang="en-ID" sz="2000" dirty="0"/>
              <a:t> </a:t>
            </a:r>
            <a:r>
              <a:rPr lang="en-ID" sz="2000" dirty="0" err="1"/>
              <a:t>verifikasi</a:t>
            </a:r>
            <a:r>
              <a:rPr lang="en-ID" sz="2000" dirty="0"/>
              <a:t>.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dilengkapi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fitur</a:t>
            </a:r>
            <a:r>
              <a:rPr lang="en-ID" sz="2000" dirty="0"/>
              <a:t> 	</a:t>
            </a:r>
            <a:r>
              <a:rPr lang="en-ID" sz="2000" dirty="0" err="1"/>
              <a:t>manajemen</a:t>
            </a:r>
            <a:r>
              <a:rPr lang="en-ID" sz="2000" dirty="0"/>
              <a:t> template email agar admin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mengatur</a:t>
            </a:r>
            <a:r>
              <a:rPr lang="en-ID" sz="2000" dirty="0"/>
              <a:t> </a:t>
            </a:r>
            <a:r>
              <a:rPr lang="en-ID" sz="2000" dirty="0" err="1"/>
              <a:t>pesan</a:t>
            </a:r>
            <a:r>
              <a:rPr lang="en-ID" sz="2000" dirty="0"/>
              <a:t> OTP, </a:t>
            </a:r>
            <a:r>
              <a:rPr lang="en-ID" sz="2000" dirty="0" err="1"/>
              <a:t>konfirmasi</a:t>
            </a:r>
            <a:r>
              <a:rPr lang="en-ID" sz="2000" dirty="0"/>
              <a:t>, dan reminder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mudah</a:t>
            </a:r>
            <a:r>
              <a:rPr lang="en-ID" sz="2000" dirty="0"/>
              <a:t>. </a:t>
            </a:r>
            <a:r>
              <a:rPr lang="en-ID" sz="2000" dirty="0" err="1"/>
              <a:t>Dukungan</a:t>
            </a:r>
            <a:r>
              <a:rPr lang="en-ID" sz="2000" dirty="0"/>
              <a:t> multi-</a:t>
            </a:r>
            <a:r>
              <a:rPr lang="en-ID" sz="2000" dirty="0" err="1"/>
              <a:t>bahasa</a:t>
            </a:r>
            <a:r>
              <a:rPr lang="en-ID" sz="2000" dirty="0"/>
              <a:t>, 	</a:t>
            </a:r>
            <a:r>
              <a:rPr lang="en-ID" sz="2000" dirty="0" err="1"/>
              <a:t>terutama</a:t>
            </a:r>
            <a:r>
              <a:rPr lang="en-ID" sz="2000" dirty="0"/>
              <a:t> Bahasa Indonesia dan </a:t>
            </a:r>
            <a:r>
              <a:rPr lang="en-ID" sz="2000" dirty="0" err="1"/>
              <a:t>Inggris</a:t>
            </a:r>
            <a:r>
              <a:rPr lang="en-ID" sz="2000" dirty="0"/>
              <a:t>,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ditambahkan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menjangkau</a:t>
            </a:r>
            <a:r>
              <a:rPr lang="en-ID" sz="2000" dirty="0"/>
              <a:t> </a:t>
            </a:r>
            <a:r>
              <a:rPr lang="en-ID" sz="2000" dirty="0" err="1"/>
              <a:t>peserta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. Fitur </a:t>
            </a:r>
            <a:r>
              <a:rPr lang="en-ID" sz="2000" dirty="0" err="1"/>
              <a:t>ekspor</a:t>
            </a:r>
            <a:r>
              <a:rPr lang="en-ID" sz="2000" dirty="0"/>
              <a:t> data </a:t>
            </a:r>
            <a:r>
              <a:rPr lang="en-ID" sz="2000" dirty="0" err="1"/>
              <a:t>ke</a:t>
            </a:r>
            <a:r>
              <a:rPr lang="en-ID" sz="2000" dirty="0"/>
              <a:t> Excel, CSV, </a:t>
            </a:r>
            <a:r>
              <a:rPr lang="en-ID" sz="2000" dirty="0" err="1"/>
              <a:t>atau</a:t>
            </a:r>
            <a:r>
              <a:rPr lang="en-ID" sz="2000" dirty="0"/>
              <a:t> PDF 	juga </a:t>
            </a:r>
            <a:r>
              <a:rPr lang="en-ID" sz="2000" dirty="0" err="1"/>
              <a:t>membantu</a:t>
            </a:r>
            <a:r>
              <a:rPr lang="en-ID" sz="2000" dirty="0"/>
              <a:t> admin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pengelolaan</a:t>
            </a:r>
            <a:r>
              <a:rPr lang="en-ID" sz="2000" dirty="0"/>
              <a:t> </a:t>
            </a:r>
            <a:r>
              <a:rPr lang="en-ID" sz="2000" dirty="0" err="1"/>
              <a:t>laporan</a:t>
            </a:r>
            <a:r>
              <a:rPr lang="en-ID" sz="2000" dirty="0"/>
              <a:t>. Integrasi login </a:t>
            </a:r>
            <a:r>
              <a:rPr lang="en-ID" sz="2000" dirty="0" err="1"/>
              <a:t>sosial</a:t>
            </a:r>
            <a:r>
              <a:rPr lang="en-ID" sz="2000" dirty="0"/>
              <a:t> media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mempermudah</a:t>
            </a:r>
            <a:r>
              <a:rPr lang="en-ID" sz="2000" dirty="0"/>
              <a:t> </a:t>
            </a:r>
            <a:r>
              <a:rPr lang="en-ID" sz="2000" dirty="0" err="1"/>
              <a:t>registrasi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. </a:t>
            </a:r>
            <a:r>
              <a:rPr lang="en-ID" sz="2000" dirty="0" err="1"/>
              <a:t>Terakhir</a:t>
            </a:r>
            <a:r>
              <a:rPr lang="en-ID" sz="2000" dirty="0"/>
              <a:t>, 	</a:t>
            </a:r>
            <a:r>
              <a:rPr lang="en-ID" sz="2000" dirty="0" err="1"/>
              <a:t>penerapan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backup dan recovery </a:t>
            </a:r>
            <a:r>
              <a:rPr lang="en-ID" sz="2000" dirty="0" err="1"/>
              <a:t>otomatis</a:t>
            </a:r>
            <a:r>
              <a:rPr lang="en-ID" sz="2000" dirty="0"/>
              <a:t> </a:t>
            </a:r>
            <a:r>
              <a:rPr lang="en-ID" sz="2000" dirty="0" err="1"/>
              <a:t>diperlukan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menjaga</a:t>
            </a:r>
            <a:r>
              <a:rPr lang="en-ID" sz="2000" dirty="0"/>
              <a:t> </a:t>
            </a:r>
            <a:r>
              <a:rPr lang="en-ID" sz="2000" dirty="0" err="1"/>
              <a:t>keamanan</a:t>
            </a:r>
            <a:r>
              <a:rPr lang="en-ID" sz="2000" dirty="0"/>
              <a:t> dan </a:t>
            </a:r>
            <a:r>
              <a:rPr lang="en-ID" sz="2000" dirty="0" err="1"/>
              <a:t>keberlangsungan</a:t>
            </a:r>
            <a:r>
              <a:rPr lang="en-ID" sz="2000" dirty="0"/>
              <a:t> data.</a:t>
            </a:r>
            <a:endParaRPr lang="en-ID" sz="2000" b="1" dirty="0">
              <a:solidFill>
                <a:srgbClr val="46464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l">
              <a:lnSpc>
                <a:spcPts val="3062"/>
              </a:lnSpc>
            </a:pPr>
            <a:endParaRPr lang="en-US" sz="1937" b="1" dirty="0">
              <a:solidFill>
                <a:srgbClr val="46464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51" b="-12851"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16495252" y="8292928"/>
            <a:ext cx="2320172" cy="2435064"/>
            <a:chOff x="0" y="0"/>
            <a:chExt cx="3093562" cy="3246752"/>
          </a:xfrm>
        </p:grpSpPr>
        <p:sp>
          <p:nvSpPr>
            <p:cNvPr id="4" name="TextBox 4"/>
            <p:cNvSpPr txBox="1"/>
            <p:nvPr/>
          </p:nvSpPr>
          <p:spPr>
            <a:xfrm>
              <a:off x="2454556" y="2734017"/>
              <a:ext cx="3671" cy="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11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 rot="5400000">
              <a:off x="-76595" y="76595"/>
              <a:ext cx="3246752" cy="3093562"/>
              <a:chOff x="0" y="0"/>
              <a:chExt cx="65236471" cy="6215844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5236471" cy="62158500"/>
              </a:xfrm>
              <a:custGeom>
                <a:avLst/>
                <a:gdLst/>
                <a:ahLst/>
                <a:cxnLst/>
                <a:rect l="l" t="t" r="r" b="b"/>
                <a:pathLst>
                  <a:path w="65236471" h="62158500">
                    <a:moveTo>
                      <a:pt x="60894342" y="0"/>
                    </a:moveTo>
                    <a:lnTo>
                      <a:pt x="4375912" y="0"/>
                    </a:lnTo>
                    <a:cubicBezTo>
                      <a:pt x="1959229" y="0"/>
                      <a:pt x="0" y="1959229"/>
                      <a:pt x="0" y="4375912"/>
                    </a:cubicBezTo>
                    <a:lnTo>
                      <a:pt x="0" y="57732420"/>
                    </a:lnTo>
                    <a:cubicBezTo>
                      <a:pt x="0" y="60176916"/>
                      <a:pt x="1981581" y="62158500"/>
                      <a:pt x="4426077" y="62158500"/>
                    </a:cubicBezTo>
                    <a:lnTo>
                      <a:pt x="35070287" y="62158500"/>
                    </a:lnTo>
                    <a:cubicBezTo>
                      <a:pt x="37471604" y="62158500"/>
                      <a:pt x="39418133" y="60211971"/>
                      <a:pt x="39418133" y="57810654"/>
                    </a:cubicBezTo>
                    <a:lnTo>
                      <a:pt x="39418133" y="27968956"/>
                    </a:lnTo>
                    <a:cubicBezTo>
                      <a:pt x="39418133" y="25557735"/>
                      <a:pt x="41372789" y="23603077"/>
                      <a:pt x="43784013" y="23603077"/>
                    </a:cubicBezTo>
                    <a:lnTo>
                      <a:pt x="60894342" y="23603077"/>
                    </a:lnTo>
                    <a:cubicBezTo>
                      <a:pt x="63292484" y="23603077"/>
                      <a:pt x="65236471" y="21659087"/>
                      <a:pt x="65236471" y="19260947"/>
                    </a:cubicBezTo>
                    <a:lnTo>
                      <a:pt x="65236471" y="4342130"/>
                    </a:lnTo>
                    <a:cubicBezTo>
                      <a:pt x="65236471" y="1944116"/>
                      <a:pt x="63292484" y="0"/>
                      <a:pt x="60894342" y="0"/>
                    </a:cubicBezTo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753759" y="1212866"/>
            <a:ext cx="7879772" cy="7872182"/>
            <a:chOff x="0" y="0"/>
            <a:chExt cx="10506362" cy="10496243"/>
          </a:xfrm>
        </p:grpSpPr>
        <p:sp>
          <p:nvSpPr>
            <p:cNvPr id="8" name="TextBox 8"/>
            <p:cNvSpPr txBox="1"/>
            <p:nvPr/>
          </p:nvSpPr>
          <p:spPr>
            <a:xfrm>
              <a:off x="6442432" y="4307244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22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506362" cy="10496243"/>
            </a:xfrm>
            <a:custGeom>
              <a:avLst/>
              <a:gdLst/>
              <a:ahLst/>
              <a:cxnLst/>
              <a:rect l="l" t="t" r="r" b="b"/>
              <a:pathLst>
                <a:path w="10506362" h="10496243">
                  <a:moveTo>
                    <a:pt x="0" y="0"/>
                  </a:moveTo>
                  <a:lnTo>
                    <a:pt x="10506362" y="0"/>
                  </a:lnTo>
                  <a:lnTo>
                    <a:pt x="10506362" y="10496243"/>
                  </a:lnTo>
                  <a:lnTo>
                    <a:pt x="0" y="10496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8" b="-4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4154" y="1684515"/>
            <a:ext cx="6937728" cy="6926359"/>
            <a:chOff x="0" y="0"/>
            <a:chExt cx="9250303" cy="9235146"/>
          </a:xfrm>
        </p:grpSpPr>
        <p:sp>
          <p:nvSpPr>
            <p:cNvPr id="11" name="TextBox 11"/>
            <p:cNvSpPr txBox="1"/>
            <p:nvPr/>
          </p:nvSpPr>
          <p:spPr>
            <a:xfrm>
              <a:off x="4846624" y="3687979"/>
              <a:ext cx="19084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33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9250303" cy="9235146"/>
              <a:chOff x="0" y="0"/>
              <a:chExt cx="813245" cy="8119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3245" cy="811912"/>
              </a:xfrm>
              <a:custGeom>
                <a:avLst/>
                <a:gdLst/>
                <a:ahLst/>
                <a:cxnLst/>
                <a:rect l="l" t="t" r="r" b="b"/>
                <a:pathLst>
                  <a:path w="813245" h="811912">
                    <a:moveTo>
                      <a:pt x="406622" y="0"/>
                    </a:moveTo>
                    <a:cubicBezTo>
                      <a:pt x="182051" y="0"/>
                      <a:pt x="0" y="181753"/>
                      <a:pt x="0" y="405956"/>
                    </a:cubicBezTo>
                    <a:cubicBezTo>
                      <a:pt x="0" y="630159"/>
                      <a:pt x="182051" y="811912"/>
                      <a:pt x="406622" y="811912"/>
                    </a:cubicBezTo>
                    <a:cubicBezTo>
                      <a:pt x="631194" y="811912"/>
                      <a:pt x="813245" y="630159"/>
                      <a:pt x="813245" y="405956"/>
                    </a:cubicBezTo>
                    <a:cubicBezTo>
                      <a:pt x="813245" y="181753"/>
                      <a:pt x="631194" y="0"/>
                      <a:pt x="406622" y="0"/>
                    </a:cubicBezTo>
                    <a:close/>
                  </a:path>
                </a:pathLst>
              </a:custGeom>
              <a:solidFill>
                <a:srgbClr val="FFD964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42" y="9442"/>
                <a:ext cx="660761" cy="726353"/>
              </a:xfrm>
              <a:prstGeom prst="rect">
                <a:avLst/>
              </a:prstGeom>
            </p:spPr>
            <p:txBody>
              <a:bodyPr lIns="79119" tIns="79119" rIns="79119" bIns="79119" rtlCol="0" anchor="ctr"/>
              <a:lstStyle/>
              <a:p>
                <a:pPr algn="ctr">
                  <a:lnSpc>
                    <a:spcPts val="3300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4662133" y="1478901"/>
            <a:ext cx="7612850" cy="7606148"/>
            <a:chOff x="0" y="0"/>
            <a:chExt cx="10150466" cy="10141530"/>
          </a:xfrm>
        </p:grpSpPr>
        <p:sp>
          <p:nvSpPr>
            <p:cNvPr id="16" name="TextBox 16"/>
            <p:cNvSpPr txBox="1"/>
            <p:nvPr/>
          </p:nvSpPr>
          <p:spPr>
            <a:xfrm>
              <a:off x="5400421" y="5042039"/>
              <a:ext cx="19133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44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150466" cy="10141530"/>
            </a:xfrm>
            <a:custGeom>
              <a:avLst/>
              <a:gdLst/>
              <a:ahLst/>
              <a:cxnLst/>
              <a:rect l="l" t="t" r="r" b="b"/>
              <a:pathLst>
                <a:path w="10150466" h="10141530">
                  <a:moveTo>
                    <a:pt x="0" y="0"/>
                  </a:moveTo>
                  <a:lnTo>
                    <a:pt x="10150466" y="0"/>
                  </a:lnTo>
                  <a:lnTo>
                    <a:pt x="10150466" y="10141530"/>
                  </a:lnTo>
                  <a:lnTo>
                    <a:pt x="0" y="1014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44" b="-44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178" y="495520"/>
            <a:ext cx="1713044" cy="1347179"/>
            <a:chOff x="0" y="0"/>
            <a:chExt cx="2284059" cy="1796238"/>
          </a:xfrm>
        </p:grpSpPr>
        <p:sp>
          <p:nvSpPr>
            <p:cNvPr id="19" name="TextBox 19"/>
            <p:cNvSpPr txBox="1"/>
            <p:nvPr/>
          </p:nvSpPr>
          <p:spPr>
            <a:xfrm>
              <a:off x="1468397" y="1556601"/>
              <a:ext cx="18937" cy="28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"/>
                </a:lnSpc>
                <a:spcBef>
                  <a:spcPct val="0"/>
                </a:spcBef>
              </a:pPr>
              <a:r>
                <a:rPr lang="en-US" sz="100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55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284059" cy="1796238"/>
            </a:xfrm>
            <a:custGeom>
              <a:avLst/>
              <a:gdLst/>
              <a:ahLst/>
              <a:cxnLst/>
              <a:rect l="l" t="t" r="r" b="b"/>
              <a:pathLst>
                <a:path w="2284059" h="1796238">
                  <a:moveTo>
                    <a:pt x="0" y="0"/>
                  </a:moveTo>
                  <a:lnTo>
                    <a:pt x="2284059" y="0"/>
                  </a:lnTo>
                  <a:lnTo>
                    <a:pt x="2284059" y="1796238"/>
                  </a:lnTo>
                  <a:lnTo>
                    <a:pt x="0" y="179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400" b="-400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2839" y="5713109"/>
            <a:ext cx="2905109" cy="2897766"/>
            <a:chOff x="0" y="0"/>
            <a:chExt cx="3873479" cy="3863687"/>
          </a:xfrm>
        </p:grpSpPr>
        <p:sp>
          <p:nvSpPr>
            <p:cNvPr id="22" name="TextBox 22"/>
            <p:cNvSpPr txBox="1"/>
            <p:nvPr/>
          </p:nvSpPr>
          <p:spPr>
            <a:xfrm>
              <a:off x="3006004" y="1931844"/>
              <a:ext cx="20950" cy="20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"/>
                </a:lnSpc>
                <a:spcBef>
                  <a:spcPct val="0"/>
                </a:spcBef>
              </a:pPr>
              <a:r>
                <a:rPr lang="en-US" sz="108">
                  <a:solidFill>
                    <a:srgbClr val="000000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66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3873479" cy="3863687"/>
            </a:xfrm>
            <a:custGeom>
              <a:avLst/>
              <a:gdLst/>
              <a:ahLst/>
              <a:cxnLst/>
              <a:rect l="l" t="t" r="r" b="b"/>
              <a:pathLst>
                <a:path w="3873479" h="3863687">
                  <a:moveTo>
                    <a:pt x="0" y="0"/>
                  </a:moveTo>
                  <a:lnTo>
                    <a:pt x="3873479" y="0"/>
                  </a:lnTo>
                  <a:lnTo>
                    <a:pt x="3873479" y="3863687"/>
                  </a:lnTo>
                  <a:lnTo>
                    <a:pt x="0" y="386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26" b="-126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43999" y="2900003"/>
            <a:ext cx="8832999" cy="4519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403"/>
              </a:lnSpc>
            </a:pPr>
            <a:r>
              <a:rPr lang="en-US" sz="15966" b="1" i="1" spc="-798" dirty="0">
                <a:solidFill>
                  <a:srgbClr val="000000"/>
                </a:solidFill>
                <a:latin typeface="Body Grotesque Bold Italics"/>
                <a:ea typeface="Body Grotesque Bold Italics"/>
                <a:cs typeface="Body Grotesque Bold Italics"/>
                <a:sym typeface="Body Grotesque Bold Italics"/>
              </a:rPr>
              <a:t>DEMO APLIKASI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26078" y="5017230"/>
            <a:ext cx="18708" cy="22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"/>
              </a:lnSpc>
              <a:spcBef>
                <a:spcPct val="0"/>
              </a:spcBef>
            </a:pPr>
            <a:r>
              <a:rPr lang="en-US" sz="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</a:p>
        </p:txBody>
      </p:sp>
      <p:pic>
        <p:nvPicPr>
          <p:cNvPr id="27" name="Image 1" descr="Home - Universitas Jenderal Achmad Yani">
            <a:extLst>
              <a:ext uri="{FF2B5EF4-FFF2-40B4-BE49-F238E27FC236}">
                <a16:creationId xmlns:a16="http://schemas.microsoft.com/office/drawing/2014/main" id="{F9C87B8F-CE5E-DD3D-EF38-C275CDBCDF64}"/>
              </a:ext>
            </a:extLst>
          </p:cNvPr>
          <p:cNvPicPr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630787" y="1841526"/>
            <a:ext cx="6084000" cy="61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854</Words>
  <Application>Microsoft Office PowerPoint</Application>
  <PresentationFormat>Custom</PresentationFormat>
  <Paragraphs>101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Calibri</vt:lpstr>
      <vt:lpstr>Inter Medium</vt:lpstr>
      <vt:lpstr>Wingdings</vt:lpstr>
      <vt:lpstr>Body Grotesque</vt:lpstr>
      <vt:lpstr>DM Sans Bold</vt:lpstr>
      <vt:lpstr>Body Grotesque Bold Italics</vt:lpstr>
      <vt:lpstr>Times New Roman</vt:lpstr>
      <vt:lpstr>Arial</vt:lpstr>
      <vt:lpstr>Montserrat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SATRIA</dc:title>
  <dc:creator>daus</dc:creator>
  <cp:lastModifiedBy>Firdaus Gozali</cp:lastModifiedBy>
  <cp:revision>7</cp:revision>
  <dcterms:created xsi:type="dcterms:W3CDTF">2006-08-16T00:00:00Z</dcterms:created>
  <dcterms:modified xsi:type="dcterms:W3CDTF">2025-11-18T23:49:20Z</dcterms:modified>
  <dc:identifier>DAGs1orboMw</dc:identifier>
</cp:coreProperties>
</file>